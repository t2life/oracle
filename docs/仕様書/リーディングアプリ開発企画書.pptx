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6" r:id="rId11"/>
    <p:sldId id="271" r:id="rId12"/>
    <p:sldId id="268" r:id="rId13"/>
    <p:sldId id="263" r:id="rId14"/>
    <p:sldId id="264" r:id="rId15"/>
    <p:sldId id="265" r:id="rId16"/>
    <p:sldId id="272" r:id="rId17"/>
    <p:sldId id="273" r:id="rId18"/>
    <p:sldId id="274" r:id="rId19"/>
    <p:sldId id="275" r:id="rId20"/>
    <p:sldId id="276" r:id="rId21"/>
    <p:sldId id="278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8B"/>
    <a:srgbClr val="EE68D1"/>
    <a:srgbClr val="EB6BC0"/>
    <a:srgbClr val="FFE1F6"/>
    <a:srgbClr val="FFFF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DD34E-9ED2-420C-A333-AF41604366F0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AFA66-D884-44C9-B999-E5A1EDBD5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90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AFA66-D884-44C9-B999-E5A1EDBD5320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11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5BCAD085-E8A6-8845-BD4E-CB4CCA059FC4}" type="datetimeFigureOut">
              <a:rPr lang="en-US" smtClean="0"/>
              <a:pPr/>
              <a:t>5/13/2026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>
              <a:latin typeface="+mj-ea"/>
              <a:ea typeface="+mj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AB11BFC2-7C31-B4DD-CBD9-9EC5F11D55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06625" y="609600"/>
            <a:ext cx="914400" cy="914400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1589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2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1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28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2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71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6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94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2689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25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1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3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03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86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live-project.com/en/streamer-magazine/article/7443/" TargetMode="External"/><Relationship Id="rId2" Type="http://schemas.openxmlformats.org/officeDocument/2006/relationships/hyperlink" Target="https://www.liveplan.com/sample-business-plans/entertainment-and-recreation/astrology-tarot-card-business-pla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technosys.com/insights/astrology-app-development-cost/" TargetMode="External"/><Relationship Id="rId4" Type="http://schemas.openxmlformats.org/officeDocument/2006/relationships/hyperlink" Target="https://www.techugo.com/blog/how-much-does-it-cost-to-develop-horoscope-apps-like-nebula-with-features-monetization-strategies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2"/>
            <a:ext cx="7765321" cy="4697504"/>
          </a:xfr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ja-JP" altLang="en-US" sz="2800" dirty="0">
                <a:gradFill flip="none" rotWithShape="1">
                  <a:gsLst>
                    <a:gs pos="0">
                      <a:schemeClr val="accent2">
                        <a:lumMod val="67000"/>
                      </a:schemeClr>
                    </a:gs>
                    <a:gs pos="30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霊能</a:t>
            </a:r>
            <a:r>
              <a:rPr lang="en-US" altLang="ja-JP" sz="2800" dirty="0">
                <a:gradFill flip="none" rotWithShape="1">
                  <a:gsLst>
                    <a:gs pos="0">
                      <a:schemeClr val="accent2">
                        <a:lumMod val="67000"/>
                      </a:schemeClr>
                    </a:gs>
                    <a:gs pos="30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</a:rPr>
              <a:t>+</a:t>
            </a:r>
            <a:r>
              <a:rPr lang="ja-JP" altLang="en-US" sz="2800" dirty="0">
                <a:gradFill flip="none" rotWithShape="1">
                  <a:gsLst>
                    <a:gs pos="0">
                      <a:schemeClr val="accent2">
                        <a:lumMod val="67000"/>
                      </a:schemeClr>
                    </a:gs>
                    <a:gs pos="30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</a:rPr>
              <a:t>オリジナルオラクルカード</a:t>
            </a:r>
            <a:br>
              <a:rPr lang="en-US" dirty="0">
                <a:gradFill flip="none" rotWithShape="1">
                  <a:gsLst>
                    <a:gs pos="0">
                      <a:schemeClr val="accent3">
                        <a:lumMod val="67000"/>
                      </a:schemeClr>
                    </a:gs>
                    <a:gs pos="48000">
                      <a:schemeClr val="accent3">
                        <a:lumMod val="97000"/>
                        <a:lumOff val="3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</a:br>
            <a:r>
              <a:rPr lang="ja-JP" altLang="en-US" sz="4400" dirty="0">
                <a:gradFill flip="none" rotWithShape="1">
                  <a:gsLst>
                    <a:gs pos="0">
                      <a:srgbClr val="EB6BC0"/>
                    </a:gs>
                    <a:gs pos="71000">
                      <a:schemeClr val="tx1"/>
                    </a:gs>
                    <a:gs pos="100000">
                      <a:srgbClr val="EE68D1"/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オラクルリーディングアプリ</a:t>
            </a:r>
            <a:br>
              <a:rPr lang="en-US" altLang="ja-JP" dirty="0">
                <a:gradFill flip="none" rotWithShape="1">
                  <a:gsLst>
                    <a:gs pos="0">
                      <a:srgbClr val="EB6BC0"/>
                    </a:gs>
                    <a:gs pos="71000">
                      <a:schemeClr val="tx1"/>
                    </a:gs>
                    <a:gs pos="100000">
                      <a:srgbClr val="EE68D1"/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</a:br>
            <a:r>
              <a:rPr lang="ja-JP" altLang="en-US" sz="4000" dirty="0">
                <a:gradFill>
                  <a:gsLst>
                    <a:gs pos="0">
                      <a:srgbClr val="EB6BC0"/>
                    </a:gs>
                    <a:gs pos="71000">
                      <a:schemeClr val="tx1"/>
                    </a:gs>
                    <a:gs pos="100000">
                      <a:srgbClr val="EE68D1"/>
                    </a:gs>
                  </a:gsLst>
                  <a:lin ang="16200000" scaled="1"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企画書</a:t>
            </a:r>
            <a:br>
              <a:rPr lang="en-US" altLang="ja-JP" dirty="0">
                <a:gradFill flip="none" rotWithShape="1">
                  <a:gsLst>
                    <a:gs pos="0">
                      <a:schemeClr val="accent3">
                        <a:lumMod val="67000"/>
                      </a:schemeClr>
                    </a:gs>
                    <a:gs pos="48000">
                      <a:schemeClr val="accent3">
                        <a:lumMod val="97000"/>
                        <a:lumOff val="3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</a:br>
            <a:r>
              <a:rPr lang="ja-JP" altLang="en-US" sz="36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rPr>
              <a:t>＆</a:t>
            </a:r>
            <a:br>
              <a:rPr lang="en-US" altLang="ja-JP" sz="36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rPr>
            </a:br>
            <a:r>
              <a:rPr lang="ja-JP" altLang="en-US" sz="3600" spc="-9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48000">
                      <a:srgbClr val="FFFF8B"/>
                    </a:gs>
                    <a:gs pos="100000">
                      <a:schemeClr val="tx1"/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やっちゃえ！</a:t>
            </a:r>
            <a:r>
              <a:rPr lang="en-US" altLang="ja-JP" sz="36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48000">
                      <a:srgbClr val="FFFF8B"/>
                    </a:gs>
                    <a:gs pos="100000">
                      <a:schemeClr val="tx1"/>
                    </a:gs>
                  </a:gsLst>
                  <a:lin ang="16200000" scaled="1"/>
                  <a:tileRect/>
                </a:gradFill>
                <a:latin typeface="Arial Black" panose="020B0A04020102020204" pitchFamily="34" charset="0"/>
                <a:ea typeface="HG創英角ｺﾞｼｯｸUB" panose="020B0909000000000000" pitchFamily="49" charset="-128"/>
              </a:rPr>
              <a:t>V</a:t>
            </a:r>
            <a:r>
              <a:rPr lang="ja-JP" altLang="en-US" sz="3600" spc="-1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48000">
                      <a:srgbClr val="FFFF8B"/>
                    </a:gs>
                    <a:gs pos="100000">
                      <a:schemeClr val="tx1"/>
                    </a:gs>
                  </a:gsLst>
                  <a:lin ang="16200000" scaled="1"/>
                  <a:tileRect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チューバー！</a:t>
            </a:r>
            <a:endParaRPr sz="3600" spc="-100" dirty="0"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48000">
                    <a:srgbClr val="FFFF8B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83CCAEF-C1CD-6E3C-B6DE-00F8F9855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5316071"/>
            <a:ext cx="7765322" cy="79785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altLang="ja-JP" dirty="0">
              <a:solidFill>
                <a:schemeClr val="accent3">
                  <a:lumMod val="60000"/>
                  <a:lumOff val="4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ctr">
              <a:buNone/>
            </a:pPr>
            <a:r>
              <a:rPr lang="en-US" altLang="ja-JP" dirty="0">
                <a:solidFill>
                  <a:schemeClr val="accent3">
                    <a:lumMod val="60000"/>
                    <a:lumOff val="4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</a:t>
            </a:r>
            <a:r>
              <a:rPr lang="ja-JP" alt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dirty="0">
                <a:solidFill>
                  <a:schemeClr val="accent3">
                    <a:lumMod val="60000"/>
                    <a:lumOff val="4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dirty="0">
                <a:solidFill>
                  <a:schemeClr val="accent3">
                    <a:lumMod val="60000"/>
                    <a:lumOff val="4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26</a:t>
            </a:r>
            <a:r>
              <a:rPr lang="ja-JP" alt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プロジェクト概要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  <a:latin typeface="游明朝 Demibold" panose="02020600000000000000" pitchFamily="18" charset="-128"/>
              <a:ea typeface="游明朝 Demibold" panose="02020600000000000000" pitchFamily="18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28000"/>
            <a:ext cx="7765322" cy="3695136"/>
          </a:xfrm>
          <a:solidFill>
            <a:schemeClr val="tx1">
              <a:alpha val="40000"/>
            </a:schemeClr>
          </a:solidFill>
        </p:spPr>
        <p:txBody>
          <a:bodyPr>
            <a:normAutofit/>
          </a:bodyPr>
          <a:lstStyle/>
          <a:p>
            <a:pPr lvl="1"/>
            <a:r>
              <a:rPr lang="ja-JP" altLang="en-US" dirty="0">
                <a:latin typeface="+mj-ea"/>
                <a:ea typeface="+mj-ea"/>
              </a:rPr>
              <a:t>オリジナルオラクルカードを使用したリーディングアプリ</a:t>
            </a:r>
            <a:endParaRPr dirty="0">
              <a:latin typeface="+mj-ea"/>
              <a:ea typeface="+mj-ea"/>
            </a:endParaRPr>
          </a:p>
          <a:p>
            <a:pPr lvl="1"/>
            <a:r>
              <a:rPr dirty="0">
                <a:latin typeface="+mj-ea"/>
                <a:ea typeface="+mj-ea"/>
              </a:rPr>
              <a:t>対象：30〜80代女性（日本・海外）</a:t>
            </a:r>
            <a:endParaRPr lang="en-US" dirty="0">
              <a:latin typeface="+mj-ea"/>
              <a:ea typeface="+mj-ea"/>
            </a:endParaRPr>
          </a:p>
          <a:p>
            <a:pPr lvl="1"/>
            <a:r>
              <a:rPr lang="ja-JP" altLang="en-US" dirty="0">
                <a:latin typeface="+mj-ea"/>
                <a:ea typeface="+mj-ea"/>
              </a:rPr>
              <a:t>アプリメニューからショップサイトや鑑定依頼へ誘導</a:t>
            </a:r>
            <a:endParaRPr lang="en-US" altLang="ja-JP" dirty="0">
              <a:latin typeface="+mj-ea"/>
              <a:ea typeface="+mj-ea"/>
            </a:endParaRPr>
          </a:p>
          <a:p>
            <a:pPr lvl="1"/>
            <a:r>
              <a:rPr lang="ja-JP" altLang="en-US" dirty="0">
                <a:latin typeface="+mj-ea"/>
                <a:ea typeface="+mj-ea"/>
              </a:rPr>
              <a:t>アプリは</a:t>
            </a:r>
            <a:r>
              <a:rPr lang="en-US" altLang="ja-JP" dirty="0" err="1">
                <a:latin typeface="+mj-ea"/>
                <a:ea typeface="+mj-ea"/>
              </a:rPr>
              <a:t>PlayStore</a:t>
            </a:r>
            <a:r>
              <a:rPr lang="ja-JP" altLang="en-US" dirty="0">
                <a:latin typeface="+mj-ea"/>
                <a:ea typeface="+mj-ea"/>
              </a:rPr>
              <a:t>と</a:t>
            </a:r>
            <a:r>
              <a:rPr lang="en-US" altLang="ja-JP" dirty="0" err="1">
                <a:latin typeface="+mj-ea"/>
                <a:ea typeface="+mj-ea"/>
              </a:rPr>
              <a:t>iTune</a:t>
            </a:r>
            <a:r>
              <a:rPr lang="ja-JP" altLang="en-US" dirty="0">
                <a:latin typeface="+mj-ea"/>
                <a:ea typeface="+mj-ea"/>
              </a:rPr>
              <a:t>からダウンロード</a:t>
            </a:r>
            <a:endParaRPr lang="en-US" altLang="ja-JP" dirty="0">
              <a:latin typeface="+mj-ea"/>
              <a:ea typeface="+mj-ea"/>
            </a:endParaRPr>
          </a:p>
          <a:p>
            <a:pPr lvl="1"/>
            <a:r>
              <a:rPr lang="ja-JP" altLang="en-US" dirty="0"/>
              <a:t>認知度向上</a:t>
            </a:r>
            <a:r>
              <a:rPr lang="ja-JP" altLang="en-US" dirty="0">
                <a:latin typeface="+mj-ea"/>
                <a:ea typeface="+mj-ea"/>
              </a:rPr>
              <a:t>は</a:t>
            </a:r>
            <a:r>
              <a:rPr lang="en-US" altLang="ja-JP" dirty="0">
                <a:latin typeface="+mj-ea"/>
                <a:ea typeface="+mj-ea"/>
              </a:rPr>
              <a:t>V</a:t>
            </a:r>
            <a:r>
              <a:rPr lang="ja-JP" altLang="en-US" dirty="0">
                <a:latin typeface="+mj-ea"/>
                <a:ea typeface="+mj-ea"/>
              </a:rPr>
              <a:t>チューブ配信で行う（週一回）</a:t>
            </a:r>
            <a:br>
              <a:rPr lang="en-US" altLang="ja-JP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ea"/>
                <a:ea typeface="+mj-ea"/>
              </a:rPr>
            </a:br>
            <a:endParaRPr lang="en-US" altLang="ja-JP" dirty="0"/>
          </a:p>
          <a:p>
            <a:pPr marL="0" indent="0" algn="ctr">
              <a:buNone/>
            </a:pPr>
            <a:r>
              <a:rPr lang="en-US" altLang="ja-JP" sz="3200" dirty="0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rgbClr val="FFFF8B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メイリオ" panose="020B0604030504040204" pitchFamily="50" charset="-128"/>
                <a:ea typeface="メイリオ" panose="020B0604030504040204" pitchFamily="50" charset="-128"/>
                <a:cs typeface="Calibri Light" panose="020F0302020204030204" pitchFamily="34" charset="0"/>
              </a:rPr>
              <a:t>V</a:t>
            </a:r>
            <a:r>
              <a:rPr lang="ja-JP" altLang="en-US" sz="3200" dirty="0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rgbClr val="FFFF8B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メイリオ" panose="020B0604030504040204" pitchFamily="50" charset="-128"/>
                <a:ea typeface="メイリオ" panose="020B0604030504040204" pitchFamily="50" charset="-128"/>
                <a:cs typeface="Calibri Light" panose="020F0302020204030204" pitchFamily="34" charset="0"/>
              </a:rPr>
              <a:t>チューブ</a:t>
            </a:r>
            <a:r>
              <a:rPr lang="ja-JP" altLang="en-US" sz="3200" dirty="0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rgbClr val="FFFF8B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  <a:cs typeface="Calibri Light" panose="020F0302020204030204" pitchFamily="34" charset="0"/>
              </a:rPr>
              <a:t>＋リーディングアプリで</a:t>
            </a:r>
            <a:br>
              <a:rPr lang="en-US" altLang="ja-JP" sz="3200" dirty="0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rgbClr val="FFFF8B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  <a:cs typeface="Calibri Light" panose="020F0302020204030204" pitchFamily="34" charset="0"/>
              </a:rPr>
            </a:br>
            <a:r>
              <a:rPr lang="ja-JP" altLang="en-US" sz="3200" dirty="0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rgbClr val="FFFF8B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HG創英角ｺﾞｼｯｸUB" panose="020B0909000000000000" pitchFamily="49" charset="-128"/>
                <a:ea typeface="HG創英角ｺﾞｼｯｸUB" panose="020B0909000000000000" pitchFamily="49" charset="-128"/>
                <a:cs typeface="Calibri Light" panose="020F0302020204030204" pitchFamily="34" charset="0"/>
              </a:rPr>
              <a:t>収益化を目指す！</a:t>
            </a:r>
            <a:endParaRPr lang="en-US" altLang="ja-JP" sz="3200" dirty="0"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50000">
                    <a:srgbClr val="FFFF8B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HG創英角ｺﾞｼｯｸUB" panose="020B0909000000000000" pitchFamily="49" charset="-128"/>
              <a:ea typeface="HG創英角ｺﾞｼｯｸUB" panose="020B0909000000000000" pitchFamily="49" charset="-128"/>
              <a:cs typeface="Calibri Light" panose="020F0302020204030204" pitchFamily="34" charset="0"/>
            </a:endParaRPr>
          </a:p>
          <a:p>
            <a:endParaRPr lang="en-US" altLang="ja-JP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游明朝 Demibold" panose="02020600000000000000" pitchFamily="18" charset="-128"/>
                <a:ea typeface="游明朝 Demibold" panose="02020600000000000000" pitchFamily="18" charset="-128"/>
              </a:rPr>
              <a:t>世界観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游明朝 Demibold" panose="02020600000000000000" pitchFamily="18" charset="-128"/>
              <a:ea typeface="游明朝 Demibold" panose="02020600000000000000" pitchFamily="18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28000"/>
            <a:ext cx="7765322" cy="3318618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r>
              <a:rPr lang="ja-JP" altLang="en-US" dirty="0">
                <a:effectLst/>
                <a:latin typeface="+mj-ea"/>
                <a:ea typeface="+mj-ea"/>
              </a:rPr>
              <a:t>本物の霊能者が力を込めたオリジナルオラクルカード</a:t>
            </a:r>
          </a:p>
          <a:p>
            <a:r>
              <a:rPr lang="ja-JP" altLang="en-US" dirty="0">
                <a:effectLst/>
                <a:latin typeface="+mj-ea"/>
                <a:ea typeface="+mj-ea"/>
              </a:rPr>
              <a:t>ターゲット年齢層が高め（</a:t>
            </a:r>
            <a:r>
              <a:rPr lang="en-US" altLang="ja-JP" dirty="0">
                <a:effectLst/>
                <a:latin typeface="+mj-ea"/>
                <a:ea typeface="+mj-ea"/>
              </a:rPr>
              <a:t>30〜80</a:t>
            </a:r>
            <a:r>
              <a:rPr lang="ja-JP" altLang="en-US" dirty="0">
                <a:effectLst/>
                <a:latin typeface="+mj-ea"/>
                <a:ea typeface="+mj-ea"/>
              </a:rPr>
              <a:t>代女性）なので、</a:t>
            </a:r>
            <a:br>
              <a:rPr lang="en-US" altLang="ja-JP" dirty="0">
                <a:effectLst/>
                <a:latin typeface="+mj-ea"/>
                <a:ea typeface="+mj-ea"/>
              </a:rPr>
            </a:br>
            <a:r>
              <a:rPr lang="ja-JP" altLang="en-US" dirty="0">
                <a:effectLst/>
                <a:latin typeface="+mj-ea"/>
                <a:ea typeface="+mj-ea"/>
              </a:rPr>
              <a:t>落ち着いたトーン・可愛すぎないデザイン</a:t>
            </a:r>
            <a:endParaRPr lang="en-US" altLang="ja-JP" dirty="0">
              <a:effectLst/>
              <a:latin typeface="+mj-ea"/>
              <a:ea typeface="+mj-ea"/>
            </a:endParaRPr>
          </a:p>
          <a:p>
            <a:r>
              <a:rPr lang="ja-JP" altLang="en-US" dirty="0">
                <a:effectLst/>
                <a:latin typeface="+mj-ea"/>
                <a:ea typeface="+mj-ea"/>
              </a:rPr>
              <a:t>メインデッキは日本神話の神々がモチーフ</a:t>
            </a:r>
            <a:br>
              <a:rPr lang="en-US" altLang="ja-JP" dirty="0">
                <a:effectLst/>
                <a:latin typeface="+mj-ea"/>
                <a:ea typeface="+mj-ea"/>
              </a:rPr>
            </a:br>
            <a:r>
              <a:rPr lang="ja-JP" altLang="en-US" dirty="0">
                <a:effectLst/>
                <a:latin typeface="+mj-ea"/>
                <a:ea typeface="+mj-ea"/>
              </a:rPr>
              <a:t>その他、龍神デッキ・ブライスドールデッキが選択可能</a:t>
            </a:r>
            <a:endParaRPr lang="en-US" altLang="ja-JP" dirty="0">
              <a:effectLst/>
              <a:latin typeface="+mj-ea"/>
              <a:ea typeface="+mj-ea"/>
            </a:endParaRPr>
          </a:p>
          <a:p>
            <a:r>
              <a:rPr lang="ja-JP" altLang="en-US" dirty="0">
                <a:effectLst/>
                <a:latin typeface="+mj-ea"/>
                <a:ea typeface="+mj-ea"/>
              </a:rPr>
              <a:t>写実的・神秘的・幻想的なビジュアル</a:t>
            </a:r>
            <a:endParaRPr lang="en-US" altLang="ja-JP" dirty="0">
              <a:effectLst/>
              <a:latin typeface="+mj-ea"/>
              <a:ea typeface="+mj-ea"/>
            </a:endParaRPr>
          </a:p>
          <a:p>
            <a:r>
              <a:rPr lang="en-US" altLang="ja-JP" dirty="0">
                <a:effectLst/>
                <a:latin typeface="+mj-ea"/>
                <a:ea typeface="+mj-ea"/>
              </a:rPr>
              <a:t>1</a:t>
            </a:r>
            <a:r>
              <a:rPr lang="ja-JP" altLang="en-US" dirty="0">
                <a:effectLst/>
                <a:latin typeface="+mj-ea"/>
                <a:ea typeface="+mj-ea"/>
              </a:rPr>
              <a:t>日に</a:t>
            </a:r>
            <a:r>
              <a:rPr lang="en-US" altLang="ja-JP" dirty="0">
                <a:effectLst/>
                <a:latin typeface="+mj-ea"/>
                <a:ea typeface="+mj-ea"/>
              </a:rPr>
              <a:t>1</a:t>
            </a:r>
            <a:r>
              <a:rPr lang="ja-JP" altLang="en-US" dirty="0">
                <a:effectLst/>
                <a:latin typeface="+mj-ea"/>
                <a:ea typeface="+mj-ea"/>
              </a:rPr>
              <a:t>回占える宣託（神のお告げ）</a:t>
            </a:r>
            <a:endParaRPr lang="en-US" altLang="ja-JP" dirty="0">
              <a:effectLst/>
              <a:latin typeface="+mj-ea"/>
              <a:ea typeface="+mj-ea"/>
            </a:endParaRPr>
          </a:p>
          <a:p>
            <a:endParaRPr lang="ja-JP" altLang="en-US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デモ動画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游明朝 Demibold" panose="02020600000000000000" pitchFamily="18" charset="-128"/>
              <a:ea typeface="游明朝 Demibold" panose="02020600000000000000" pitchFamily="18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E28E89-79B6-F65C-38EA-0A0E34101E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346" y="1728000"/>
            <a:ext cx="7765322" cy="350665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/>
        </p:spPr>
        <p:txBody>
          <a:bodyPr vert="horz" wrap="squar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テーマ選択恋愛／仕事／お金／前世 などから1つ選ぶ。</a:t>
            </a: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シャッフル（指でスワイプ）</a:t>
            </a:r>
            <a:endParaRPr kumimoji="0" lang="en-US" altLang="ja-JP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デッキが自動で3山に分かれる</a:t>
            </a: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1つの山を選択</a:t>
            </a: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選んだ山だけが横一列に展開</a:t>
            </a: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横スクロールでカードを眺め、1枚をダブルタップ</a:t>
            </a: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カードオープン</a:t>
            </a:r>
            <a:endParaRPr kumimoji="0" lang="en-US" altLang="ja-JP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5040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絵＋キーワード＋ジャンル別解釈を表示</a:t>
            </a:r>
            <a:endParaRPr kumimoji="0" lang="en-US" altLang="ja-JP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16110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ja-JP" altLang="ja-JP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游明朝 Demibold" panose="02020600000000000000" pitchFamily="18" charset="-128"/>
                <a:ea typeface="游明朝 Demibold" panose="02020600000000000000" pitchFamily="18" charset="-128"/>
              </a:rPr>
              <a:t>占い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游明朝 Demibold" panose="02020600000000000000" pitchFamily="18" charset="-128"/>
                <a:ea typeface="游明朝 Demibold" panose="02020600000000000000" pitchFamily="18" charset="-128"/>
              </a:rPr>
              <a:t>ルール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游明朝 Demibold" panose="02020600000000000000" pitchFamily="18" charset="-128"/>
              <a:ea typeface="游明朝 Demibold" panose="02020600000000000000" pitchFamily="18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1">
              <a:alpha val="40000"/>
            </a:schemeClr>
          </a:solidFill>
        </p:spPr>
        <p:txBody>
          <a:bodyPr/>
          <a:lstStyle/>
          <a:p>
            <a:r>
              <a:rPr lang="ja-JP" altLang="en-US" dirty="0">
                <a:effectLst/>
              </a:rPr>
              <a:t>何度も占えない仕様（同じテーマは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日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回まで）</a:t>
            </a:r>
          </a:p>
          <a:p>
            <a:r>
              <a:rPr lang="ja-JP" altLang="en-US" dirty="0">
                <a:effectLst/>
              </a:rPr>
              <a:t>結果画面に</a:t>
            </a:r>
          </a:p>
          <a:p>
            <a:pPr lvl="1"/>
            <a:r>
              <a:rPr lang="ja-JP" altLang="en-US" dirty="0">
                <a:effectLst/>
              </a:rPr>
              <a:t>「審神者が受け取ったメッセージを伝えます」といった文言で</a:t>
            </a:r>
            <a:br>
              <a:rPr lang="en-US" altLang="ja-JP" dirty="0">
                <a:effectLst/>
              </a:rPr>
            </a:br>
            <a:r>
              <a:rPr lang="ja-JP" altLang="en-US" dirty="0">
                <a:effectLst/>
              </a:rPr>
              <a:t>結果に重み付け</a:t>
            </a:r>
          </a:p>
          <a:p>
            <a:r>
              <a:rPr lang="ja-JP" altLang="en-US" dirty="0">
                <a:effectLst/>
              </a:rPr>
              <a:t>無料ユーザー：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日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回オラクルワン（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枚引き）のみ</a:t>
            </a:r>
          </a:p>
          <a:p>
            <a:r>
              <a:rPr lang="ja-JP" altLang="en-US" dirty="0">
                <a:effectLst/>
              </a:rPr>
              <a:t>有料ユーザー：複数テーマ、</a:t>
            </a:r>
            <a:r>
              <a:rPr lang="en-US" altLang="ja-JP" dirty="0">
                <a:effectLst/>
              </a:rPr>
              <a:t>3</a:t>
            </a:r>
            <a:r>
              <a:rPr lang="ja-JP" altLang="en-US" dirty="0">
                <a:effectLst/>
              </a:rPr>
              <a:t>枚引き・より深いリーディング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メニュ</a:t>
            </a:r>
            <a:r>
              <a:rPr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28000"/>
            <a:ext cx="7765322" cy="3695136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r>
              <a:rPr dirty="0" err="1">
                <a:latin typeface="+mj-ea"/>
                <a:ea typeface="+mj-ea"/>
              </a:rPr>
              <a:t>今日の宣託</a:t>
            </a:r>
            <a:r>
              <a:rPr lang="ja-JP" altLang="en-US" dirty="0">
                <a:latin typeface="+mj-ea"/>
                <a:ea typeface="+mj-ea"/>
              </a:rPr>
              <a:t>（オラクルワン</a:t>
            </a:r>
            <a:r>
              <a:rPr lang="en-US" altLang="ja-JP" dirty="0">
                <a:latin typeface="+mj-ea"/>
                <a:ea typeface="+mj-ea"/>
              </a:rPr>
              <a:t>/3</a:t>
            </a:r>
            <a:r>
              <a:rPr lang="ja-JP" altLang="en-US" dirty="0">
                <a:latin typeface="+mj-ea"/>
                <a:ea typeface="+mj-ea"/>
              </a:rPr>
              <a:t>枚引き</a:t>
            </a:r>
            <a:r>
              <a:rPr lang="en-US" altLang="ja-JP" dirty="0">
                <a:latin typeface="+mj-ea"/>
                <a:ea typeface="+mj-ea"/>
              </a:rPr>
              <a:t>/</a:t>
            </a:r>
            <a:r>
              <a:rPr lang="ja-JP" altLang="en-US" dirty="0">
                <a:latin typeface="+mj-ea"/>
                <a:ea typeface="+mj-ea"/>
              </a:rPr>
              <a:t>複数引き）</a:t>
            </a:r>
            <a:endParaRPr lang="en-US" dirty="0">
              <a:latin typeface="+mj-ea"/>
              <a:ea typeface="+mj-ea"/>
            </a:endParaRPr>
          </a:p>
          <a:p>
            <a:r>
              <a:rPr dirty="0" err="1">
                <a:latin typeface="+mj-ea"/>
                <a:ea typeface="+mj-ea"/>
              </a:rPr>
              <a:t>テーマ</a:t>
            </a:r>
            <a:r>
              <a:rPr lang="ja-JP" altLang="en-US" dirty="0">
                <a:latin typeface="+mj-ea"/>
                <a:ea typeface="+mj-ea"/>
              </a:rPr>
              <a:t>について（恋愛／仕事／お金／健康／人間関係／魂・</a:t>
            </a:r>
            <a:br>
              <a:rPr lang="en-US" altLang="ja-JP" dirty="0">
                <a:latin typeface="+mj-ea"/>
                <a:ea typeface="+mj-ea"/>
              </a:rPr>
            </a:br>
            <a:r>
              <a:rPr lang="ja-JP" altLang="en-US" dirty="0">
                <a:latin typeface="+mj-ea"/>
                <a:ea typeface="+mj-ea"/>
              </a:rPr>
              <a:t>覚醒・カルマ・前世）</a:t>
            </a:r>
            <a:endParaRPr lang="en-US" dirty="0">
              <a:latin typeface="+mj-ea"/>
              <a:ea typeface="+mj-ea"/>
            </a:endParaRPr>
          </a:p>
          <a:p>
            <a:r>
              <a:rPr lang="ja-JP" altLang="en-US" dirty="0">
                <a:latin typeface="+mj-ea"/>
                <a:ea typeface="+mj-ea"/>
              </a:rPr>
              <a:t>全</a:t>
            </a:r>
            <a:r>
              <a:rPr lang="en-US" altLang="ja-JP" dirty="0">
                <a:latin typeface="+mj-ea"/>
                <a:ea typeface="+mj-ea"/>
              </a:rPr>
              <a:t>64</a:t>
            </a:r>
            <a:r>
              <a:rPr lang="ja-JP" altLang="en-US" dirty="0">
                <a:latin typeface="+mj-ea"/>
                <a:ea typeface="+mj-ea"/>
              </a:rPr>
              <a:t>枚の</a:t>
            </a:r>
            <a:r>
              <a:rPr dirty="0" err="1">
                <a:latin typeface="+mj-ea"/>
                <a:ea typeface="+mj-ea"/>
              </a:rPr>
              <a:t>カード</a:t>
            </a:r>
            <a:r>
              <a:rPr lang="ja-JP" altLang="en-US" dirty="0">
                <a:latin typeface="+mj-ea"/>
              </a:rPr>
              <a:t>一覧</a:t>
            </a:r>
            <a:r>
              <a:rPr lang="ja-JP" altLang="en-US" dirty="0">
                <a:latin typeface="+mj-ea"/>
                <a:ea typeface="+mj-ea"/>
              </a:rPr>
              <a:t>（基本的な意味を紹介）</a:t>
            </a:r>
            <a:endParaRPr lang="en-US" dirty="0">
              <a:latin typeface="+mj-ea"/>
              <a:ea typeface="+mj-ea"/>
            </a:endParaRPr>
          </a:p>
          <a:p>
            <a:r>
              <a:rPr dirty="0" err="1">
                <a:latin typeface="+mj-ea"/>
                <a:ea typeface="+mj-ea"/>
              </a:rPr>
              <a:t>ショップ</a:t>
            </a:r>
            <a:r>
              <a:rPr lang="ja-JP" altLang="en-US" dirty="0">
                <a:latin typeface="+mj-ea"/>
                <a:ea typeface="+mj-ea"/>
              </a:rPr>
              <a:t>（お守り</a:t>
            </a:r>
            <a:r>
              <a:rPr lang="en-US" altLang="ja-JP" dirty="0">
                <a:latin typeface="+mj-ea"/>
                <a:ea typeface="+mj-ea"/>
              </a:rPr>
              <a:t>/</a:t>
            </a:r>
            <a:r>
              <a:rPr lang="ja-JP" altLang="en-US" dirty="0">
                <a:latin typeface="+mj-ea"/>
                <a:ea typeface="+mj-ea"/>
              </a:rPr>
              <a:t>チャーム</a:t>
            </a:r>
            <a:r>
              <a:rPr lang="en-US" altLang="ja-JP" dirty="0">
                <a:latin typeface="+mj-ea"/>
                <a:ea typeface="+mj-ea"/>
              </a:rPr>
              <a:t>/</a:t>
            </a:r>
            <a:r>
              <a:rPr lang="ja-JP" altLang="en-US" dirty="0">
                <a:latin typeface="+mj-ea"/>
                <a:ea typeface="+mj-ea"/>
              </a:rPr>
              <a:t>眷属グッズ）</a:t>
            </a:r>
            <a:endParaRPr lang="en-US" dirty="0">
              <a:latin typeface="+mj-ea"/>
              <a:ea typeface="+mj-ea"/>
            </a:endParaRPr>
          </a:p>
          <a:p>
            <a:r>
              <a:rPr lang="ja-JP" altLang="en-US" dirty="0">
                <a:latin typeface="+mj-ea"/>
                <a:ea typeface="+mj-ea"/>
              </a:rPr>
              <a:t>本格</a:t>
            </a:r>
            <a:r>
              <a:rPr dirty="0" err="1">
                <a:latin typeface="+mj-ea"/>
                <a:ea typeface="+mj-ea"/>
              </a:rPr>
              <a:t>鑑定</a:t>
            </a:r>
            <a:r>
              <a:rPr lang="ja-JP" altLang="en-US" dirty="0">
                <a:latin typeface="+mj-ea"/>
                <a:ea typeface="+mj-ea"/>
              </a:rPr>
              <a:t>（オンライン鑑定・メール鑑定）</a:t>
            </a:r>
            <a:endParaRPr lang="en-US" altLang="ja-JP" dirty="0">
              <a:latin typeface="+mj-ea"/>
              <a:ea typeface="+mj-ea"/>
            </a:endParaRPr>
          </a:p>
          <a:p>
            <a:r>
              <a:rPr lang="en-US" altLang="ja-JP" dirty="0"/>
              <a:t>V</a:t>
            </a:r>
            <a:r>
              <a:rPr lang="ja-JP" altLang="en-US" dirty="0"/>
              <a:t>チューブへの逆誘導</a:t>
            </a:r>
            <a:endParaRPr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8D06A-ACC4-523E-3F89-27804448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1E1F-A39F-D89C-9648-CB9BB16A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1"/>
            <a:ext cx="9143999" cy="1326321"/>
          </a:xfrm>
        </p:spPr>
        <p:txBody>
          <a:bodyPr>
            <a:normAutofit/>
          </a:bodyPr>
          <a:lstStyle/>
          <a:p>
            <a:r>
              <a:rPr lang="ja-JP" alt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日本神話デッキ</a:t>
            </a:r>
            <a:r>
              <a:rPr lang="en-US" altLang="ja-JP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龍神・ブライスドールデッキ）</a:t>
            </a:r>
            <a:endParaRPr sz="3200"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7C296F-BB4C-4882-06B7-B9D284456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578" y="5702366"/>
            <a:ext cx="7530842" cy="88017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ja-JP" altLang="en-US" dirty="0">
                <a:latin typeface="+mj-ea"/>
                <a:ea typeface="+mj-ea"/>
              </a:rPr>
              <a:t>一目で伝わる世界観を出す</a:t>
            </a:r>
            <a:endParaRPr lang="en-US" altLang="ja-JP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ja-JP" altLang="en-US" dirty="0"/>
              <a:t>海外受けも意識した構成にする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BF3BE09-BA68-B35E-76B0-061ED8023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78" y="1503218"/>
            <a:ext cx="7530842" cy="410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2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カード仕様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262281"/>
            <a:ext cx="9144000" cy="10936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dirty="0">
                <a:latin typeface="+mj-ea"/>
                <a:ea typeface="+mj-ea"/>
              </a:rPr>
              <a:t>画像生成</a:t>
            </a:r>
            <a:r>
              <a:rPr lang="en-US" altLang="ja-JP" dirty="0">
                <a:latin typeface="+mj-ea"/>
                <a:ea typeface="+mj-ea"/>
              </a:rPr>
              <a:t>AI</a:t>
            </a:r>
            <a:r>
              <a:rPr lang="ja-JP" altLang="en-US" dirty="0">
                <a:latin typeface="+mj-ea"/>
                <a:ea typeface="+mj-ea"/>
              </a:rPr>
              <a:t>によるオリジナル図柄を生成する</a:t>
            </a:r>
            <a:endParaRPr lang="en-US" altLang="ja-JP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ja-JP" altLang="en-US" dirty="0"/>
              <a:t>後に実際にカードを作成し販売する（デッキは</a:t>
            </a:r>
            <a:r>
              <a:rPr lang="en-US" altLang="ja-JP" dirty="0"/>
              <a:t>3</a:t>
            </a:r>
            <a:r>
              <a:rPr lang="ja-JP" altLang="en-US" dirty="0"/>
              <a:t>種類用意）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9164EB-F329-649C-6B26-F1D0464F9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24" y="1503218"/>
            <a:ext cx="6866965" cy="3745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C77A-9449-8B72-4AF4-29EDEA98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F458-AB12-4C77-9378-8104045A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カード</a:t>
            </a:r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図柄イメージ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24B2672-C3B4-3EF6-7A9E-9BF88BFA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86" y="1503218"/>
            <a:ext cx="7530842" cy="410773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D51C5D-6E3D-F114-F725-DBA9FBFF7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587" y="5702366"/>
            <a:ext cx="7530842" cy="8801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dirty="0">
                <a:latin typeface="+mj-ea"/>
                <a:ea typeface="+mj-ea"/>
              </a:rPr>
              <a:t>写実的・神秘的・幻想的な図柄</a:t>
            </a:r>
            <a:endParaRPr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5846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5E2F-7A57-90BC-5201-3A4D69FE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4E4B-7B80-0422-1687-FCA33F98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カードデータベース（一部）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C1D1DE6-E2A6-18C5-1F34-7EC8ADECA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108323"/>
              </p:ext>
            </p:extLst>
          </p:nvPr>
        </p:nvGraphicFramePr>
        <p:xfrm>
          <a:off x="281361" y="1581150"/>
          <a:ext cx="8645991" cy="4945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395">
                  <a:extLst>
                    <a:ext uri="{9D8B030D-6E8A-4147-A177-3AD203B41FA5}">
                      <a16:colId xmlns:a16="http://schemas.microsoft.com/office/drawing/2014/main" val="2963834081"/>
                    </a:ext>
                  </a:extLst>
                </a:gridCol>
                <a:gridCol w="550886">
                  <a:extLst>
                    <a:ext uri="{9D8B030D-6E8A-4147-A177-3AD203B41FA5}">
                      <a16:colId xmlns:a16="http://schemas.microsoft.com/office/drawing/2014/main" val="2463370300"/>
                    </a:ext>
                  </a:extLst>
                </a:gridCol>
                <a:gridCol w="2341264">
                  <a:extLst>
                    <a:ext uri="{9D8B030D-6E8A-4147-A177-3AD203B41FA5}">
                      <a16:colId xmlns:a16="http://schemas.microsoft.com/office/drawing/2014/main" val="2393316030"/>
                    </a:ext>
                  </a:extLst>
                </a:gridCol>
                <a:gridCol w="1680465">
                  <a:extLst>
                    <a:ext uri="{9D8B030D-6E8A-4147-A177-3AD203B41FA5}">
                      <a16:colId xmlns:a16="http://schemas.microsoft.com/office/drawing/2014/main" val="1934936325"/>
                    </a:ext>
                  </a:extLst>
                </a:gridCol>
                <a:gridCol w="1811566">
                  <a:extLst>
                    <a:ext uri="{9D8B030D-6E8A-4147-A177-3AD203B41FA5}">
                      <a16:colId xmlns:a16="http://schemas.microsoft.com/office/drawing/2014/main" val="3089902653"/>
                    </a:ext>
                  </a:extLst>
                </a:gridCol>
                <a:gridCol w="2076415">
                  <a:extLst>
                    <a:ext uri="{9D8B030D-6E8A-4147-A177-3AD203B41FA5}">
                      <a16:colId xmlns:a16="http://schemas.microsoft.com/office/drawing/2014/main" val="3214683502"/>
                    </a:ext>
                  </a:extLst>
                </a:gridCol>
              </a:tblGrid>
              <a:tr h="10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u="none" strike="noStrike">
                          <a:effectLst/>
                        </a:rPr>
                        <a:t>No.</a:t>
                      </a:r>
                      <a:endParaRPr lang="en-US" sz="5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神名</a:t>
                      </a:r>
                      <a:endParaRPr lang="ja-JP" altLang="en-US" sz="5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肯定的キーワード</a:t>
                      </a:r>
                      <a:endParaRPr lang="ja-JP" altLang="en-US" sz="5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否定的キーワード</a:t>
                      </a:r>
                      <a:endParaRPr lang="ja-JP" altLang="en-US" sz="5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中立的キーワード</a:t>
                      </a:r>
                      <a:endParaRPr lang="ja-JP" altLang="en-US" sz="5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行動提案ワード</a:t>
                      </a:r>
                      <a:endParaRPr lang="ja-JP" altLang="en-US" sz="5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230437905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天之御中主神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中心に立つ、統合する、全体を見渡す、可能性が開く、運命の転換点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迷いの中心、方向性喪失、軸のぶれ、過度な自己中心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選択の時、転換期、意識の拡大、内なる声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瞑想する、全体像を把握する、中心軸を整える、統合を図る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624988716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高御産巣日神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新しい始まり、創造力発揮、積極性が吉、リーダーシップ、エネルギー高まる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性急すぎる、独断的、強引な推進、男性性過剰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開始のタイミング、主導権、能動的行動、創造の源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第一歩を踏み出す、率先する、計画を立案する、エネルギーを注ぐ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645142277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神産巣日神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育成の時、癒しの力、包容力、優しさが鍵、受容的態度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過保護、依存を生む、境界の曖昧さ、女性性過剰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成長の過程、育む関係、癒しの必要性、受容の姿勢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ケアする、育てる、包み込む、優しく見守る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038893828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4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天照大御神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成功確実、繁栄の兆し、正当な評価、輝く存在、明るい未来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傲慢、自己顕示欲、過度な完璧主義、他者への配慮不足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リーダーの役割、公正な判断、光を当てる、統治の責任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堂々と表現する、正義を貫く、明るく振る舞う、率いる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923766493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5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月読命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深い洞察、周期を読む、内省の時間、静かな力、感情の理解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感情過多、引きこもり、過度な内省、消極性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サイクル、リズム、内なる世界、静寂の価値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振り返る、周期を意識する、休息する、感情を受け入れる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129939250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6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須佐之男命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変革成功、破壊的創造、浄化完了、大胆な行動、再生の力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破壊的過ぎ、混乱、暴走、攻撃性、嵐のような激情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変化の嵐、古いものの終焉、浄化の必要性、激しい転換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古いものを手放す、大胆に変える、浄化する、嵐を受け入れる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218721335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7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伊邪那岐命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行動力発揮、決断の成功、創造的活動、父性の強さ、積極的推進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独断的、配慮不足、強引、行動先行型の失敗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父としての役割、能動的姿勢、決断の時、創造の力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決断する、行動に移す、リードする、創り出す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795726633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8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伊邪那美命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豊かな実り、母性の愛、循環の理解、深い献身、土台の完成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過度な献身、自己犠牲、循環の停滞、執着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母としての役割、生と死、循環の法則、土台作り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育む、献身する、循環を受け入れる、土台を固める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461859099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9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天之常立神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不変の真理、永続的価値、揺るがない信念、安定継続、真実の発見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頑固、変化拒否、硬直化、柔軟性欠如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永続性、不変の法則、真理の探求、安定の基盤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信念を貫く、真理に従う、永続的視点を持つ、安定を保つ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847295891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10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国之常立神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堅実な基盤、長期的成功、安定継続、地に足ついた判断、持続可能性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変化への対応遅れ、保守的過ぎ、柔軟性不足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基盤の重要性、長期視点、安定の価値、土台固め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基礎を固める、長期計画を立てる、安定を優先する、地道に進む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258132851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11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豊雲野神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恵みの到来、浄化完了、豊かな流れ、適度な変化、栄養補給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過度な流動性、不安定、浄化不足、停滞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恵みの雨、浄化の必要性、流れの中、栄養と成長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浄化する、流れに乗る、恵みを受け取る、柔軟に対応する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246114781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12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宇比地邇神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具体化成功、現実化する、形になる、物質的成果、実現の時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物質主義、現実的過ぎ、夢の喪失、形式重視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具体化の過程、現実化の力、物質世界、形成の段階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具体的に行動する、形にする、現実化させる、物質的成果を出す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4267500852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13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角杙神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目標達成、定着成功、確固たる地位、明確な方向性、固定化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融通が利かない、固執、柔軟性欠如、変化困難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目標設定、定着の過程、確立の時、固定の必要性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目標を明確にする、定着させる、固定する、方向性を定める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74347456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14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大国主神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良縁到来、協力関係成立、商売繁盛、調和的展開、多角的成功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八方美人、優柔不断、縁に振り回される、分散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縁結びの力、協力の価値、調和の重要性、多様な関係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縁を結ぶ、協力する、調和を図る、多角的に展開する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141088131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15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事代主神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正しい判断、直感的中、神託的導き、受容の成功、重要な決定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優柔不断、判断回避、過度な受動性、決断力不足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判断の時、直感の声、受容の姿勢、神託のメッセージ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直感に従う、判断する、受け入れる、重要な決定を下す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658428017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16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少名毘古那神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小さな成功、技術的突破、知恵の勝利、癒しの効果、協力関係良好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過小評価、力不足感、依存的、補助に留まる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小さな力、知恵と技術、癒しの方法、協力の形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小さく始める、技術を活かす、知恵を使う、協力を求める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87868826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17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建御雷之男神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勝利確定、決断成功、競争優位、突破力発揮、強力な推進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攻撃的過ぎ、強引、力任せ、配慮不足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勝負の時、決断力、突破の力、競争の場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決断する、勝負に出る、突破する、力を発揮する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668532459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18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経津主神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切断成功、分離の完了、効率化達成、新天地開拓、浄化完了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冷酷、切り捨て過ぎ、関係破壊、過度な分離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切断の必要性、分離の時、浄化の剣、開拓の力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切り離す、分離する、効率化する、新しく開拓する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900828295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19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天児屋根命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コミュニケーション成功、交渉成立、言葉の力、祈りの効果、仲介成功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言葉だけ、実行力不足、過度な交渉、表面的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言葉の重要性、コミュニケーション、交渉の場、仲介の役割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言葉で伝える、交渉する、祈る、仲介する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396190492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20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布刀玉命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秩序確立、調和達成、儀式の成功、準備万端、コンプライアンス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形式主義、硬直的、柔軟性不足、準備過剰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秩序の価値、調和の必要性、儀式の意味、準備の重要性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秩序を整える、調和させる、儀式を行う、丁寧に準備する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559246390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21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天宇受売命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喜びの到来、表現成功、魅力発揮、楽しさ増大、解放感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軽薄、過度な陽気さ、真面目さ不足、表面的な楽しさ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喜びの力、表現の価値、魅力の発揮、解放の必要性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 dirty="0">
                          <a:effectLst/>
                        </a:rPr>
                        <a:t>楽しむ、表現する、魅力を出す、喜びを分かち合う</a:t>
                      </a:r>
                      <a:endParaRPr lang="ja-JP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4064655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22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天手力男神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障害除去、強力な実行、突破成功、行動力発揮、開放達成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力任せ、繊細さ不足、強引な突破、配慮欠如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力の発揮、障害の除去、開放の時、行動の重要性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 dirty="0">
                          <a:effectLst/>
                        </a:rPr>
                        <a:t>力を出す、障害を除く、突破する、行動で示す</a:t>
                      </a:r>
                      <a:endParaRPr lang="ja-JP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051107054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23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思金神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戦略的成功、知恵の勝利、計画的達成、問題解決、思考の整理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考え過ぎ、行動不足、複雑化、分析麻痺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知恵の価値、戦略の必要性、思考の整理、計画の重要性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戦略を練る、知恵を使う、計画する、問題を解決する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14630274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24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石長比売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長期的成功、永続的価値、忍耐の報い、堅実な成果、不変の絆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頑固、変化拒否、時間かかり過ぎ、地味さ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永続性の価値、忍耐の必要性、長期視点、堅実な道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忍耐する、長期で見る、堅実に進む、永続的価値を重視する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325305493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25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木花之佐久夜毘売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美の発揮、短期的成功、華やかさ、純粋な愛、瞬間の輝き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儚さ、短命、華美過ぎ、持続性不足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美しさの価値、今この瞬間、純粋さ、浄化の炎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美しく輝く、今を大切にする、純粋に愛する、浄化する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4207957913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26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猿田毘古神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導き到来、正しい方向、道が開く、先導者の出現、案内成功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依存的、自分で決めない、方向性他者任せ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導きの必要性、方向性の重要性、道開き、先導の役割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導きを求める、正しい方向へ進む、道を開く、先導する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308982111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27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天之鈿女命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和解成功、魅力発揮、交渉成立、笑いの効果、関係修復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軽薄さ、真面目さ不足、表面的和解、魅力頼み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和解の価値、笑いの力、交渉の場、魅力の発揮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和解する、笑う、交渉する、魅力を活かす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965062379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28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玉祖命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美的成功、技術の評価、洗練された成果、価値創造、品質の高さ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完璧主義、形式美重視、実用性不足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美の追求、技術の価値、洗練の必要性、価値の創造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美しく磨く、技術を磨く、洗練させる、価値を創る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701469383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29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石凝姥命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真実の反映、正確な結果、技術的成功、誠実さの報い、自己理解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真実の厳しさ、鏡の残酷さ、現実直視の苦しさ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真実の価値、反映の意味、技術の正確さ、誠実さ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真実を見る、反映させる、技術を活かす、誠実に向き合う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880686060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30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大山津見神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安定達成、自然の恵み、豊穣の実り、守護の感覚、どっしりとした基盤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変化への対応遅れ、保守的、動きの鈍さ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自然の力、安定の価値、守護の意味、山の恵み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安定を求める、自然に触れる、守られる、どっしり構える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93185954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31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綿津見神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深い理解、感情の癒し、潜在意識の浄化、神秘的体験、深層の発見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感情の渦、深く沈む、潜在意識の混乱、神秘に溺れる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海の深さ、感情の世界、潜在意識、神秘の領域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深く感じる、潜在意識に触れる、感情を癒す、神秘を受け入れる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661599175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32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速秋津日子神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転換成功、流れに乗る、境界を越える、変化への適応、移行完了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不安定、定まらない、境界の曖昧さ、変化の混乱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転換期、流れの変化、境界の場所、移行の時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流れに任せる、転換する、境界を越える、変化に適応する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477086199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33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大屋毘古神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安全確保、家庭の安定、居場所の確立、保護される、基盤の完成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閉鎖的、安全重視過ぎ、冒険心不足、守りに入る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家の重要性、安全の価値、居場所の意味、保護の必要性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安全を確保する、居場所を作る、保護する、家を大切にする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004044734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34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火之迦具土神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情熱発揮、変容成功、浄化完了、エネルギー高まる、破壊と再生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破壊的過ぎ、燃え尽き、暴走、コントロール不能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火の力、情熱のエネルギー、変容の過程、浄化の炎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情熱を燃やす、変容する、浄化する、エネルギーを解放する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29615018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35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水波能売神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浄化成功、柔軟な対応、適応力発揮、流れるような展開、自然な癒し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流され過ぎ、柔軟性過剰、主体性不足、境界の曖昧さ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水の浄化、柔軟性の価値、適応の必要性、流れの力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浄化する、柔軟に対応する、適応する、流れに任せる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570153600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36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金山毘古神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物質的豊かさ、技術的成功、価値の抽出、精錬完了、鉱物の恵み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物質主義、金銭重視過ぎ、精神性不足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物質の価値、技術の力、精錬の過程、豊かさの意味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価値を見出す、技術を使う、精錬する、物質的豊かさを得る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381012191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37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大年神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収穫の時、成果の実り、努力の報い、蓄積の価値、年次達成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収穫時期の遅れ、蓄積不足、準備不足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収穫の時期、蓄積の重要性、年の循環、成果の実り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収穫する、成果を受け取る、蓄積する、努力の報いを得る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4108834986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38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宇迦之御魂神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商売繁盛、豊かな実り、富の循環、稲荷の加護、繁栄確実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物質主義、富への執着、精神性の軽視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豊穣の力、富の意味、商売の繁栄、循環の法則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繁栄を招く、富を循環させる、豊かさを受け取る、商売を大切にする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530626034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39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菊理媛神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和解成功、仲裁完了、縁の修復、調停達成、統合の実現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優柔不断、八方美人、主体性不足、調停疲れ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仲裁の価値、和解の必要性、縁結びの力、調和の意味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仲裁する、和解させる、縁を結び直す、調停する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137637156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40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瀬織津姫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浄化完了、罪穢れの除去、過去からの解放、清らかな状態、流し去る成功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過去への執着残る、浄化不十分、罪悪感の残存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浄化の必要性、祓いの力、解放の時、流す力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浄化する、祓う、流し去る、過去を手放す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3176609980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41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速開都比売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言葉の浄化、受容と変換、ネガティブの処理、飲み込む力、許しの達成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ネガティブの溜め込み、処理不足、飲み込み過ぎ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受容の力、変換の能力、浄化の過程、許しの意味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受容する、変換する、浄化する、許す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1656416183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42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気吹戸主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新鮮な風、生命力の注入、拡散成功、バイラル効果、循環の回復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拡散し過ぎ、焦点の欠如、エネルギーの散漫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息吹の力、生命のエネルギー、拡散の必要性、新鮮な空気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息吹を入れる、新鮮さをもたらす、拡散させる、生命力を注ぐ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093394639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43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500" u="none" strike="noStrike">
                          <a:effectLst/>
                        </a:rPr>
                        <a:t>速佐須良比売</a:t>
                      </a:r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完全浄化、刷新完了、過去の完全除去、リスタート成功、完了の実感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過去の断ち切り過ぎ、急激な変化、繋がりの喪失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完全浄化の必要性、刷新の時、完了の意味、新しいスタート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完全に流し去る、刷新する、リスタートする、完了させる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4257716318"/>
                  </a:ext>
                </a:extLst>
              </a:tr>
              <a:tr h="10989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ja-JP" sz="500" u="none" strike="noStrike">
                          <a:effectLst/>
                        </a:rPr>
                        <a:t>44</a:t>
                      </a:r>
                      <a:endParaRPr lang="en-US" altLang="ja-JP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天之御影神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守護の実感、加護の確認、見守られる安心、庇護の下、神の御影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依存的、自立性不足、守護頼み、受動的過ぎ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>
                          <a:effectLst/>
                        </a:rPr>
                        <a:t>守護の存在、加護の意味、見守りの力、庇護の価値</a:t>
                      </a: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500" u="none" strike="noStrike" dirty="0">
                          <a:effectLst/>
                        </a:rPr>
                        <a:t>守護を感じる、加護を受ける、見守られる、庇護の下に入る</a:t>
                      </a:r>
                      <a:endParaRPr lang="ja-JP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3973" marR="3973" marT="3973" marB="0" anchor="b"/>
                </a:tc>
                <a:extLst>
                  <a:ext uri="{0D108BD9-81ED-4DB2-BD59-A6C34878D82A}">
                    <a16:rowId xmlns:a16="http://schemas.microsoft.com/office/drawing/2014/main" val="2868697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11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02605-2D3F-72AE-DFEB-FC805AC00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D200-6A37-FC60-041E-F70D7C447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収益モデル相関図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F56427A-FE80-8837-13BC-746FD8722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332" y="1730188"/>
            <a:ext cx="7628709" cy="4161114"/>
          </a:xfrm>
          <a:prstGeom prst="rect">
            <a:avLst/>
          </a:prstGeom>
          <a:solidFill>
            <a:prstClr val="white">
              <a:alpha val="40000"/>
            </a:prstClr>
          </a:solidFill>
        </p:spPr>
      </p:pic>
    </p:spTree>
    <p:extLst>
      <p:ext uri="{BB962C8B-B14F-4D97-AF65-F5344CB8AC3E}">
        <p14:creationId xmlns:p14="http://schemas.microsoft.com/office/powerpoint/2010/main" val="108112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5234-2E81-C38A-B9C2-314CF02B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8ABF-8F19-0515-825C-3C25424B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アプリ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料金モデル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F6F-13FB-1089-44CC-45F2B23F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28000"/>
            <a:ext cx="7765322" cy="3695136"/>
          </a:xfrm>
          <a:solidFill>
            <a:schemeClr val="tx1">
              <a:alpha val="4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ja-JP" altLang="en-US" b="1" dirty="0">
                <a:effectLst/>
              </a:rPr>
              <a:t>有料／無料ライン（案）</a:t>
            </a:r>
          </a:p>
          <a:p>
            <a:r>
              <a:rPr lang="ja-JP" altLang="en-US" dirty="0">
                <a:effectLst/>
              </a:rPr>
              <a:t>無料（課金なし状態）</a:t>
            </a:r>
          </a:p>
          <a:p>
            <a:pPr lvl="1"/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日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回だけ「今日の宣託（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枚引き）」</a:t>
            </a:r>
          </a:p>
          <a:p>
            <a:pPr lvl="1"/>
            <a:r>
              <a:rPr lang="ja-JP" altLang="en-US" dirty="0">
                <a:effectLst/>
              </a:rPr>
              <a:t>過去履歴：直近</a:t>
            </a:r>
            <a:r>
              <a:rPr lang="en-US" altLang="ja-JP" dirty="0">
                <a:effectLst/>
              </a:rPr>
              <a:t>3</a:t>
            </a:r>
            <a:r>
              <a:rPr lang="ja-JP" altLang="en-US" dirty="0">
                <a:effectLst/>
              </a:rPr>
              <a:t>件のみ閲覧可</a:t>
            </a:r>
            <a:br>
              <a:rPr lang="en-US" altLang="ja-JP" dirty="0">
                <a:effectLst/>
              </a:rPr>
            </a:br>
            <a:endParaRPr lang="ja-JP" altLang="en-US" dirty="0">
              <a:effectLst/>
            </a:endParaRPr>
          </a:p>
          <a:p>
            <a:r>
              <a:rPr lang="ja-JP" altLang="en-US" dirty="0">
                <a:effectLst/>
              </a:rPr>
              <a:t>有料（チケット </a:t>
            </a:r>
            <a:r>
              <a:rPr lang="en-US" altLang="ja-JP" dirty="0">
                <a:effectLst/>
              </a:rPr>
              <a:t>or </a:t>
            </a:r>
            <a:r>
              <a:rPr lang="ja-JP" altLang="en-US" dirty="0">
                <a:effectLst/>
              </a:rPr>
              <a:t>サブスク）</a:t>
            </a:r>
          </a:p>
          <a:p>
            <a:pPr lvl="1"/>
            <a:r>
              <a:rPr lang="ja-JP" altLang="en-US" dirty="0">
                <a:effectLst/>
              </a:rPr>
              <a:t>チケット：消費型（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セッションでチケット</a:t>
            </a:r>
            <a:r>
              <a:rPr lang="en-US" altLang="ja-JP" dirty="0">
                <a:effectLst/>
              </a:rPr>
              <a:t>1</a:t>
            </a:r>
            <a:r>
              <a:rPr lang="ja-JP" altLang="en-US" dirty="0">
                <a:effectLst/>
              </a:rPr>
              <a:t>枚</a:t>
            </a:r>
            <a:r>
              <a:rPr lang="en-US" altLang="ja-JP" dirty="0">
                <a:effectLst/>
              </a:rPr>
              <a:t>〜</a:t>
            </a:r>
            <a:r>
              <a:rPr lang="ja-JP" altLang="en-US" dirty="0">
                <a:effectLst/>
              </a:rPr>
              <a:t>複数枚）</a:t>
            </a:r>
          </a:p>
          <a:p>
            <a:pPr lvl="1"/>
            <a:r>
              <a:rPr lang="ja-JP" altLang="en-US" dirty="0">
                <a:effectLst/>
              </a:rPr>
              <a:t>サブスク：回数制限を緩和、特別スプレッド開放、履歴無制限など</a:t>
            </a:r>
          </a:p>
        </p:txBody>
      </p:sp>
    </p:spTree>
    <p:extLst>
      <p:ext uri="{BB962C8B-B14F-4D97-AF65-F5344CB8AC3E}">
        <p14:creationId xmlns:p14="http://schemas.microsoft.com/office/powerpoint/2010/main" val="2178443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料金モデル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28000"/>
            <a:ext cx="7765322" cy="4708659"/>
          </a:xfrm>
          <a:solidFill>
            <a:schemeClr val="tx1">
              <a:alpha val="4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ja-JP" altLang="en-US" sz="1500" dirty="0">
                <a:effectLst/>
              </a:rPr>
              <a:t>初回お試し：初回限定：</a:t>
            </a:r>
            <a:r>
              <a:rPr lang="en-US" altLang="ja-JP" sz="1500" dirty="0">
                <a:effectLst/>
              </a:rPr>
              <a:t>300</a:t>
            </a:r>
            <a:r>
              <a:rPr lang="ja-JP" altLang="en-US" sz="1500" dirty="0">
                <a:effectLst/>
              </a:rPr>
              <a:t>円で</a:t>
            </a:r>
            <a:r>
              <a:rPr lang="en-US" altLang="ja-JP" sz="1500" dirty="0">
                <a:effectLst/>
              </a:rPr>
              <a:t>30</a:t>
            </a:r>
            <a:r>
              <a:rPr lang="ja-JP" altLang="en-US" sz="1500" dirty="0">
                <a:effectLst/>
              </a:rPr>
              <a:t>枚（実質</a:t>
            </a:r>
            <a:r>
              <a:rPr lang="en-US" altLang="ja-JP" sz="1500" dirty="0">
                <a:effectLst/>
              </a:rPr>
              <a:t>1</a:t>
            </a:r>
            <a:r>
              <a:rPr lang="ja-JP" altLang="en-US" sz="1500" dirty="0">
                <a:effectLst/>
              </a:rPr>
              <a:t>回</a:t>
            </a:r>
            <a:r>
              <a:rPr lang="en-US" altLang="ja-JP" sz="1500" dirty="0">
                <a:effectLst/>
              </a:rPr>
              <a:t>10</a:t>
            </a:r>
            <a:r>
              <a:rPr lang="ja-JP" altLang="en-US" sz="1500" dirty="0">
                <a:effectLst/>
              </a:rPr>
              <a:t>円）</a:t>
            </a:r>
            <a:br>
              <a:rPr lang="en-US" altLang="ja-JP" sz="1500" dirty="0">
                <a:effectLst/>
              </a:rPr>
            </a:br>
            <a:r>
              <a:rPr lang="en-US" altLang="ja-JP" sz="1500" dirty="0">
                <a:effectLst/>
              </a:rPr>
              <a:t>	</a:t>
            </a:r>
            <a:r>
              <a:rPr lang="ja-JP" altLang="en-US" sz="1500" dirty="0">
                <a:effectLst/>
              </a:rPr>
              <a:t>　　</a:t>
            </a:r>
            <a:r>
              <a:rPr lang="en-US" altLang="ja-JP" sz="1500" dirty="0">
                <a:effectLst/>
              </a:rPr>
              <a:t>100</a:t>
            </a:r>
            <a:r>
              <a:rPr lang="ja-JP" altLang="en-US" sz="1500" dirty="0">
                <a:effectLst/>
              </a:rPr>
              <a:t>円は「安すぎて逆に不安」の可能性も</a:t>
            </a:r>
          </a:p>
          <a:p>
            <a:pPr>
              <a:lnSpc>
                <a:spcPct val="100000"/>
              </a:lnSpc>
            </a:pPr>
            <a:r>
              <a:rPr lang="ja-JP" altLang="en-US" sz="1500" dirty="0">
                <a:effectLst/>
              </a:rPr>
              <a:t>サブスク（</a:t>
            </a:r>
            <a:r>
              <a:rPr lang="en-US" altLang="ja-JP" sz="1500" dirty="0">
                <a:effectLst/>
              </a:rPr>
              <a:t> or7</a:t>
            </a:r>
            <a:r>
              <a:rPr lang="ja-JP" altLang="en-US" sz="1500" dirty="0">
                <a:effectLst/>
              </a:rPr>
              <a:t>日間サブスク無料トライアル）月額</a:t>
            </a:r>
            <a:r>
              <a:rPr lang="en-US" altLang="ja-JP" sz="1500" dirty="0">
                <a:effectLst/>
              </a:rPr>
              <a:t>500</a:t>
            </a:r>
            <a:r>
              <a:rPr lang="ja-JP" altLang="en-US" sz="1500" dirty="0">
                <a:effectLst/>
              </a:rPr>
              <a:t>円プラン</a:t>
            </a:r>
          </a:p>
          <a:p>
            <a:pPr lvl="2">
              <a:lnSpc>
                <a:spcPct val="100000"/>
              </a:lnSpc>
            </a:pPr>
            <a:r>
              <a:rPr lang="ja-JP" altLang="en-US" sz="1500" dirty="0">
                <a:effectLst/>
              </a:rPr>
              <a:t>毎日</a:t>
            </a:r>
            <a:r>
              <a:rPr lang="en-US" altLang="ja-JP" sz="1500" dirty="0">
                <a:effectLst/>
              </a:rPr>
              <a:t>1</a:t>
            </a:r>
            <a:r>
              <a:rPr lang="ja-JP" altLang="en-US" sz="1500" dirty="0">
                <a:effectLst/>
              </a:rPr>
              <a:t>回「今日の宣託」が利用可能</a:t>
            </a:r>
          </a:p>
          <a:p>
            <a:pPr lvl="2">
              <a:lnSpc>
                <a:spcPct val="100000"/>
              </a:lnSpc>
            </a:pPr>
            <a:r>
              <a:rPr lang="ja-JP" altLang="en-US" sz="1500" dirty="0">
                <a:effectLst/>
              </a:rPr>
              <a:t>月○回までテーマ別スプレッド利用可</a:t>
            </a:r>
          </a:p>
          <a:p>
            <a:pPr lvl="2">
              <a:lnSpc>
                <a:spcPct val="100000"/>
              </a:lnSpc>
            </a:pPr>
            <a:r>
              <a:rPr lang="ja-JP" altLang="en-US" sz="1500" dirty="0">
                <a:effectLst/>
              </a:rPr>
              <a:t>履歴無制限</a:t>
            </a:r>
          </a:p>
          <a:p>
            <a:pPr lvl="2">
              <a:lnSpc>
                <a:spcPct val="100000"/>
              </a:lnSpc>
            </a:pPr>
            <a:r>
              <a:rPr lang="ja-JP" altLang="en-US" sz="1500" dirty="0">
                <a:effectLst/>
              </a:rPr>
              <a:t>サブスク限定占い（月</a:t>
            </a:r>
            <a:r>
              <a:rPr lang="en-US" altLang="ja-JP" sz="1500" dirty="0">
                <a:effectLst/>
              </a:rPr>
              <a:t>1</a:t>
            </a:r>
            <a:r>
              <a:rPr lang="ja-JP" altLang="en-US" sz="1500" dirty="0">
                <a:effectLst/>
              </a:rPr>
              <a:t>本）</a:t>
            </a:r>
          </a:p>
          <a:p>
            <a:pPr>
              <a:lnSpc>
                <a:spcPct val="100000"/>
              </a:lnSpc>
            </a:pPr>
            <a:r>
              <a:rPr lang="ja-JP" altLang="en-US" sz="1500" dirty="0">
                <a:effectLst/>
              </a:rPr>
              <a:t>チケット（</a:t>
            </a:r>
            <a:r>
              <a:rPr lang="en-US" altLang="ja-JP" sz="1500" dirty="0">
                <a:effectLst/>
              </a:rPr>
              <a:t>1</a:t>
            </a:r>
            <a:r>
              <a:rPr lang="ja-JP" altLang="en-US" sz="1500" dirty="0">
                <a:effectLst/>
              </a:rPr>
              <a:t>回占い＝チケット</a:t>
            </a:r>
            <a:r>
              <a:rPr lang="en-US" altLang="ja-JP" sz="1500" dirty="0">
                <a:effectLst/>
              </a:rPr>
              <a:t>1〜3</a:t>
            </a:r>
            <a:r>
              <a:rPr lang="ja-JP" altLang="en-US" sz="1500" dirty="0">
                <a:effectLst/>
              </a:rPr>
              <a:t>枚）</a:t>
            </a:r>
          </a:p>
          <a:p>
            <a:pPr lvl="2">
              <a:lnSpc>
                <a:spcPct val="100000"/>
              </a:lnSpc>
            </a:pPr>
            <a:r>
              <a:rPr lang="en-US" altLang="ja-JP" sz="1500" dirty="0">
                <a:effectLst/>
              </a:rPr>
              <a:t>20</a:t>
            </a:r>
            <a:r>
              <a:rPr lang="ja-JP" altLang="en-US" sz="1500" dirty="0">
                <a:effectLst/>
              </a:rPr>
              <a:t>枚：</a:t>
            </a:r>
            <a:r>
              <a:rPr lang="en-US" altLang="ja-JP" sz="1500" dirty="0">
                <a:effectLst/>
              </a:rPr>
              <a:t>500</a:t>
            </a:r>
            <a:r>
              <a:rPr lang="ja-JP" altLang="en-US" sz="1500" dirty="0">
                <a:effectLst/>
              </a:rPr>
              <a:t>円</a:t>
            </a:r>
          </a:p>
          <a:p>
            <a:pPr lvl="2">
              <a:lnSpc>
                <a:spcPct val="100000"/>
              </a:lnSpc>
            </a:pPr>
            <a:r>
              <a:rPr lang="en-US" altLang="ja-JP" sz="1500" dirty="0">
                <a:effectLst/>
              </a:rPr>
              <a:t>50</a:t>
            </a:r>
            <a:r>
              <a:rPr lang="ja-JP" altLang="en-US" sz="1500" dirty="0">
                <a:effectLst/>
              </a:rPr>
              <a:t>枚：</a:t>
            </a:r>
            <a:r>
              <a:rPr lang="en-US" altLang="ja-JP" sz="1500" dirty="0">
                <a:effectLst/>
              </a:rPr>
              <a:t>1000</a:t>
            </a:r>
            <a:r>
              <a:rPr lang="ja-JP" altLang="en-US" sz="1500" dirty="0">
                <a:effectLst/>
              </a:rPr>
              <a:t>円</a:t>
            </a:r>
          </a:p>
          <a:p>
            <a:pPr lvl="2">
              <a:lnSpc>
                <a:spcPct val="100000"/>
              </a:lnSpc>
            </a:pPr>
            <a:r>
              <a:rPr lang="en-US" altLang="ja-JP" sz="1500" dirty="0">
                <a:effectLst/>
              </a:rPr>
              <a:t>120</a:t>
            </a:r>
            <a:r>
              <a:rPr lang="ja-JP" altLang="en-US" sz="1500" dirty="0">
                <a:effectLst/>
              </a:rPr>
              <a:t>枚：</a:t>
            </a:r>
            <a:r>
              <a:rPr lang="en-US" altLang="ja-JP" sz="1500" dirty="0">
                <a:effectLst/>
              </a:rPr>
              <a:t>2000</a:t>
            </a:r>
            <a:r>
              <a:rPr lang="ja-JP" altLang="en-US" sz="1500" dirty="0">
                <a:effectLst/>
              </a:rPr>
              <a:t>円（ボリュームディスカウント）</a:t>
            </a:r>
            <a:r>
              <a:rPr lang="en-US" altLang="ja-JP" sz="1500" dirty="0">
                <a:effectLst/>
              </a:rPr>
              <a:t>geeksforgeeks+1</a:t>
            </a:r>
            <a:endParaRPr lang="ja-JP" altLang="en-US" sz="150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ja-JP" altLang="en-US" sz="1500" dirty="0">
                <a:effectLst/>
              </a:rPr>
              <a:t>追加のマネタイズ要素</a:t>
            </a:r>
          </a:p>
          <a:p>
            <a:pPr lvl="1">
              <a:lnSpc>
                <a:spcPct val="100000"/>
              </a:lnSpc>
            </a:pPr>
            <a:r>
              <a:rPr lang="ja-JP" altLang="en-US" sz="1500" dirty="0">
                <a:effectLst/>
              </a:rPr>
              <a:t>ショップ連携（物販）</a:t>
            </a:r>
          </a:p>
          <a:p>
            <a:pPr lvl="1">
              <a:lnSpc>
                <a:spcPct val="100000"/>
              </a:lnSpc>
            </a:pPr>
            <a:r>
              <a:rPr lang="ja-JP" altLang="en-US" sz="1500" dirty="0">
                <a:effectLst/>
              </a:rPr>
              <a:t>本格鑑定の仲介（アプリからの申込で、予約フォームか</a:t>
            </a:r>
            <a:r>
              <a:rPr lang="en-US" altLang="ja-JP" sz="1500" dirty="0">
                <a:effectLst/>
              </a:rPr>
              <a:t>LINE</a:t>
            </a:r>
            <a:r>
              <a:rPr lang="ja-JP" altLang="en-US" sz="1500" dirty="0">
                <a:effectLst/>
              </a:rPr>
              <a:t>公式へ誘導）</a:t>
            </a:r>
          </a:p>
          <a:p>
            <a:pPr lvl="1">
              <a:lnSpc>
                <a:spcPct val="100000"/>
              </a:lnSpc>
            </a:pPr>
            <a:r>
              <a:rPr lang="ja-JP" altLang="en-US" sz="1500" dirty="0">
                <a:effectLst/>
              </a:rPr>
              <a:t>配信イベント（ロンの有料</a:t>
            </a:r>
            <a:r>
              <a:rPr lang="en-US" altLang="ja-JP" sz="1500" dirty="0">
                <a:effectLst/>
              </a:rPr>
              <a:t>V</a:t>
            </a:r>
            <a:r>
              <a:rPr lang="ja-JP" altLang="en-US" sz="1500" dirty="0">
                <a:effectLst/>
              </a:rPr>
              <a:t>チューブ</a:t>
            </a:r>
            <a:r>
              <a:rPr lang="en-US" altLang="ja-JP" sz="1500" dirty="0">
                <a:effectLst/>
              </a:rPr>
              <a:t>LIVE</a:t>
            </a:r>
            <a:r>
              <a:rPr lang="ja-JP" altLang="en-US" sz="1500" dirty="0">
                <a:effectLst/>
              </a:rPr>
              <a:t>・オンラインサロン的なもの）</a:t>
            </a:r>
          </a:p>
          <a:p>
            <a:pPr>
              <a:lnSpc>
                <a:spcPct val="100000"/>
              </a:lnSpc>
            </a:pPr>
            <a:endParaRPr lang="ja-JP" altLang="en-US" sz="1500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ロン（</a:t>
            </a:r>
            <a:r>
              <a:rPr lang="en-US" altLang="ja-JP" dirty="0" err="1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Vtuber</a:t>
            </a:r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）と遥の役割分担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049" y="1728000"/>
            <a:ext cx="2748136" cy="4466101"/>
          </a:xfrm>
          <a:solidFill>
            <a:schemeClr val="tx1">
              <a:alpha val="4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ロン（</a:t>
            </a:r>
            <a:r>
              <a:rPr lang="en-US" altLang="ja-JP" sz="1200" b="1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Vtuber</a:t>
            </a:r>
            <a:r>
              <a:rPr lang="ja-JP" altLang="en-US" sz="12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）の役割</a:t>
            </a:r>
          </a:p>
          <a:p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顔（キャラクター）世界観のコア</a:t>
            </a:r>
          </a:p>
          <a:p>
            <a:r>
              <a:rPr lang="en-US" altLang="ja-JP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YouTube / </a:t>
            </a:r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ツイキャス </a:t>
            </a:r>
            <a:r>
              <a:rPr lang="en-US" altLang="ja-JP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/ TikTok</a:t>
            </a:r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などでの</a:t>
            </a:r>
            <a:r>
              <a:rPr lang="en-US" altLang="ja-JP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LIVE</a:t>
            </a:r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・動画</a:t>
            </a:r>
          </a:p>
          <a:p>
            <a:pPr lvl="1"/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アプリ紹介</a:t>
            </a:r>
          </a:p>
          <a:p>
            <a:pPr lvl="1"/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無料の公開ワンカードリーディング</a:t>
            </a:r>
          </a:p>
          <a:p>
            <a:pPr lvl="1"/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視聴者の悩みをテーマにした宣託デモ</a:t>
            </a:r>
          </a:p>
          <a:p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アプリ内テキストの「口調」統一（ロンの人格で書く）</a:t>
            </a:r>
          </a:p>
          <a:p>
            <a:r>
              <a:rPr lang="ja-JP" altLang="en-US" sz="12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特別宣託・期間限定スプレッドの「チャネリング」元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A7EDD8-21A0-B82C-153F-813F90CD59A5}"/>
              </a:ext>
            </a:extLst>
          </p:cNvPr>
          <p:cNvSpPr txBox="1">
            <a:spLocks/>
          </p:cNvSpPr>
          <p:nvPr/>
        </p:nvSpPr>
        <p:spPr>
          <a:xfrm>
            <a:off x="3290043" y="1728000"/>
            <a:ext cx="2748136" cy="4466101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遥の役割</a:t>
            </a:r>
          </a:p>
          <a:p>
            <a:r>
              <a:rPr lang="ja-JP" altLang="en-US" sz="1200" dirty="0">
                <a:effectLst/>
              </a:rPr>
              <a:t>設定・台本・進行補助</a:t>
            </a:r>
          </a:p>
          <a:p>
            <a:pPr lvl="1"/>
            <a:r>
              <a:rPr lang="en-US" altLang="ja-JP" sz="1200" dirty="0">
                <a:effectLst/>
              </a:rPr>
              <a:t>LIVE</a:t>
            </a:r>
            <a:r>
              <a:rPr lang="ja-JP" altLang="en-US" sz="1200" dirty="0">
                <a:effectLst/>
              </a:rPr>
              <a:t>の企画</a:t>
            </a:r>
            <a:endParaRPr lang="en-US" altLang="ja-JP" sz="1200" dirty="0">
              <a:effectLst/>
            </a:endParaRPr>
          </a:p>
          <a:p>
            <a:pPr lvl="1"/>
            <a:r>
              <a:rPr lang="ja-JP" altLang="en-US" sz="1200" dirty="0">
                <a:effectLst/>
              </a:rPr>
              <a:t>進行表作成</a:t>
            </a:r>
          </a:p>
          <a:p>
            <a:pPr lvl="1"/>
            <a:r>
              <a:rPr lang="ja-JP" altLang="en-US" sz="1200" dirty="0">
                <a:effectLst/>
              </a:rPr>
              <a:t>コメント拾い</a:t>
            </a:r>
            <a:endParaRPr lang="en-US" altLang="ja-JP" sz="1200" dirty="0">
              <a:effectLst/>
            </a:endParaRPr>
          </a:p>
          <a:p>
            <a:pPr lvl="1"/>
            <a:r>
              <a:rPr lang="ja-JP" altLang="en-US" sz="1200" dirty="0">
                <a:effectLst/>
              </a:rPr>
              <a:t>モデレーション</a:t>
            </a:r>
          </a:p>
          <a:p>
            <a:r>
              <a:rPr lang="ja-JP" altLang="en-US" sz="1200" dirty="0">
                <a:effectLst/>
              </a:rPr>
              <a:t>カードの意味テキストの</a:t>
            </a:r>
            <a:br>
              <a:rPr lang="en-US" altLang="ja-JP" sz="1200" dirty="0">
                <a:effectLst/>
              </a:rPr>
            </a:br>
            <a:r>
              <a:rPr lang="ja-JP" altLang="en-US" sz="1200" dirty="0">
                <a:effectLst/>
              </a:rPr>
              <a:t>編集サポート</a:t>
            </a:r>
          </a:p>
          <a:p>
            <a:r>
              <a:rPr lang="en-US" altLang="ja-JP" sz="1200" dirty="0">
                <a:effectLst/>
              </a:rPr>
              <a:t>SNS</a:t>
            </a:r>
            <a:r>
              <a:rPr lang="ja-JP" altLang="en-US" sz="1200" dirty="0">
                <a:effectLst/>
              </a:rPr>
              <a:t>運用（</a:t>
            </a:r>
            <a:r>
              <a:rPr lang="en-US" altLang="ja-JP" sz="1200" dirty="0">
                <a:effectLst/>
              </a:rPr>
              <a:t>X</a:t>
            </a:r>
            <a:r>
              <a:rPr lang="ja-JP" altLang="en-US" sz="1200" dirty="0">
                <a:effectLst/>
              </a:rPr>
              <a:t>、</a:t>
            </a:r>
            <a:r>
              <a:rPr lang="en-US" altLang="ja-JP" sz="1200" dirty="0">
                <a:effectLst/>
              </a:rPr>
              <a:t>Instagram</a:t>
            </a:r>
            <a:r>
              <a:rPr lang="ja-JP" altLang="en-US" sz="1200" dirty="0">
                <a:effectLst/>
              </a:rPr>
              <a:t>、</a:t>
            </a:r>
            <a:r>
              <a:rPr lang="en-US" altLang="ja-JP" sz="1200" dirty="0">
                <a:effectLst/>
              </a:rPr>
              <a:t>YouTube</a:t>
            </a:r>
            <a:r>
              <a:rPr lang="ja-JP" altLang="en-US" sz="1200" dirty="0">
                <a:effectLst/>
              </a:rPr>
              <a:t>コミュニティなど）</a:t>
            </a:r>
          </a:p>
          <a:p>
            <a:pPr lvl="1"/>
            <a:r>
              <a:rPr lang="en-US" altLang="ja-JP" sz="1200" dirty="0">
                <a:effectLst/>
              </a:rPr>
              <a:t>LIVE</a:t>
            </a:r>
            <a:r>
              <a:rPr lang="ja-JP" altLang="en-US" sz="1200" dirty="0">
                <a:effectLst/>
              </a:rPr>
              <a:t>告知</a:t>
            </a:r>
          </a:p>
          <a:p>
            <a:pPr lvl="1"/>
            <a:r>
              <a:rPr lang="ja-JP" altLang="en-US" sz="1200" dirty="0">
                <a:effectLst/>
              </a:rPr>
              <a:t>新スプレッドのお知らせ</a:t>
            </a:r>
          </a:p>
          <a:p>
            <a:pPr lvl="1"/>
            <a:r>
              <a:rPr lang="ja-JP" altLang="en-US" sz="1200" dirty="0">
                <a:effectLst/>
              </a:rPr>
              <a:t>ショップ新商品お知らせ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60D2ED-0275-DE63-2E3D-C62BC230CA16}"/>
              </a:ext>
            </a:extLst>
          </p:cNvPr>
          <p:cNvSpPr txBox="1">
            <a:spLocks/>
          </p:cNvSpPr>
          <p:nvPr/>
        </p:nvSpPr>
        <p:spPr>
          <a:xfrm>
            <a:off x="6083001" y="1728000"/>
            <a:ext cx="2748136" cy="4466101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てつの役割</a:t>
            </a:r>
            <a:endParaRPr lang="en-US" altLang="ja-JP" sz="1400" dirty="0">
              <a:solidFill>
                <a:schemeClr val="accent4">
                  <a:lumMod val="40000"/>
                  <a:lumOff val="60000"/>
                </a:schemeClr>
              </a:solidFill>
              <a:effectLst/>
            </a:endParaRPr>
          </a:p>
          <a:p>
            <a:r>
              <a:rPr lang="ja-JP" altLang="en-US" sz="1400" dirty="0">
                <a:effectLst/>
              </a:rPr>
              <a:t>全体プロデュース</a:t>
            </a:r>
            <a:br>
              <a:rPr lang="en-US" altLang="ja-JP" sz="1400" dirty="0">
                <a:effectLst/>
              </a:rPr>
            </a:br>
            <a:r>
              <a:rPr lang="ja-JP" altLang="en-US" sz="1400" dirty="0">
                <a:effectLst/>
              </a:rPr>
              <a:t>ディレクション</a:t>
            </a:r>
          </a:p>
          <a:p>
            <a:r>
              <a:rPr lang="ja-JP" altLang="en-US" sz="1400" dirty="0">
                <a:effectLst/>
              </a:rPr>
              <a:t>アプリ仕様・要件定義</a:t>
            </a:r>
            <a:br>
              <a:rPr lang="en-US" altLang="ja-JP" sz="1400" dirty="0">
                <a:effectLst/>
              </a:rPr>
            </a:br>
            <a:r>
              <a:rPr lang="ja-JP" altLang="en-US" sz="1400" dirty="0">
                <a:effectLst/>
              </a:rPr>
              <a:t>開発ディレクション</a:t>
            </a:r>
          </a:p>
          <a:p>
            <a:r>
              <a:rPr lang="ja-JP" altLang="en-US" sz="1400" dirty="0">
                <a:effectLst/>
              </a:rPr>
              <a:t>売上・</a:t>
            </a:r>
            <a:r>
              <a:rPr lang="en-US" altLang="ja-JP" sz="1400" dirty="0">
                <a:effectLst/>
              </a:rPr>
              <a:t>KPI</a:t>
            </a:r>
            <a:r>
              <a:rPr lang="ja-JP" altLang="en-US" sz="1400" dirty="0">
                <a:effectLst/>
              </a:rPr>
              <a:t>管理</a:t>
            </a:r>
          </a:p>
          <a:p>
            <a:r>
              <a:rPr lang="ja-JP" altLang="en-US" sz="1400" dirty="0">
                <a:effectLst/>
              </a:rPr>
              <a:t>企画の意思決定</a:t>
            </a:r>
            <a:br>
              <a:rPr lang="en-US" altLang="ja-JP" sz="1400" dirty="0">
                <a:effectLst/>
              </a:rPr>
            </a:br>
            <a:r>
              <a:rPr lang="ja-JP" altLang="en-US" sz="1400" dirty="0">
                <a:effectLst/>
              </a:rPr>
              <a:t>（どの機能をいつ出すか、</a:t>
            </a:r>
            <a:br>
              <a:rPr lang="en-US" altLang="ja-JP" sz="1400" dirty="0">
                <a:effectLst/>
              </a:rPr>
            </a:br>
            <a:r>
              <a:rPr lang="ja-JP" altLang="en-US" sz="1400" dirty="0">
                <a:effectLst/>
              </a:rPr>
              <a:t>どのテーマに注力するか）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売上目標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28000"/>
            <a:ext cx="7765322" cy="42693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b="1" dirty="0">
                <a:effectLst/>
              </a:rPr>
              <a:t>暫定月商</a:t>
            </a:r>
            <a:r>
              <a:rPr lang="en-US" altLang="ja-JP" b="1" dirty="0">
                <a:effectLst/>
              </a:rPr>
              <a:t>500</a:t>
            </a:r>
            <a:r>
              <a:rPr lang="ja-JP" altLang="en-US" b="1" dirty="0">
                <a:effectLst/>
              </a:rPr>
              <a:t>万円へ向けたざっくり計算イメージ</a:t>
            </a:r>
          </a:p>
          <a:p>
            <a:r>
              <a:rPr lang="ja-JP" altLang="en-US" dirty="0">
                <a:effectLst/>
              </a:rPr>
              <a:t>例：月商</a:t>
            </a:r>
            <a:r>
              <a:rPr lang="en-US" altLang="ja-JP" dirty="0">
                <a:effectLst/>
              </a:rPr>
              <a:t>500</a:t>
            </a:r>
            <a:r>
              <a:rPr lang="ja-JP" altLang="en-US" dirty="0">
                <a:effectLst/>
              </a:rPr>
              <a:t>万円の内訳案（数字は仮）</a:t>
            </a:r>
          </a:p>
          <a:p>
            <a:pPr lvl="1"/>
            <a:r>
              <a:rPr lang="ja-JP" altLang="en-US" dirty="0">
                <a:effectLst/>
              </a:rPr>
              <a:t>サブスク：</a:t>
            </a:r>
            <a:r>
              <a:rPr lang="en-US" altLang="ja-JP" dirty="0">
                <a:effectLst/>
              </a:rPr>
              <a:t>500</a:t>
            </a:r>
            <a:r>
              <a:rPr lang="ja-JP" altLang="en-US" dirty="0">
                <a:effectLst/>
              </a:rPr>
              <a:t>円 </a:t>
            </a:r>
            <a:r>
              <a:rPr lang="en-US" altLang="ja-JP" dirty="0">
                <a:effectLst/>
              </a:rPr>
              <a:t>× ○</a:t>
            </a:r>
            <a:r>
              <a:rPr lang="ja-JP" altLang="en-US" dirty="0">
                <a:effectLst/>
              </a:rPr>
              <a:t>人</a:t>
            </a:r>
          </a:p>
          <a:p>
            <a:pPr lvl="1"/>
            <a:r>
              <a:rPr lang="ja-JP" altLang="en-US" dirty="0">
                <a:effectLst/>
              </a:rPr>
              <a:t>チケット課金：平均○円／月 </a:t>
            </a:r>
            <a:r>
              <a:rPr lang="en-US" altLang="ja-JP" dirty="0">
                <a:effectLst/>
              </a:rPr>
              <a:t>× ○</a:t>
            </a:r>
            <a:r>
              <a:rPr lang="ja-JP" altLang="en-US" dirty="0">
                <a:effectLst/>
              </a:rPr>
              <a:t>人</a:t>
            </a:r>
          </a:p>
          <a:p>
            <a:pPr lvl="1"/>
            <a:r>
              <a:rPr lang="ja-JP" altLang="en-US" dirty="0">
                <a:effectLst/>
              </a:rPr>
              <a:t>本格鑑定・ショップの送客（アプリ外売上）</a:t>
            </a:r>
            <a:br>
              <a:rPr lang="ja-JP" altLang="en-US" dirty="0">
                <a:effectLst/>
              </a:rPr>
            </a:br>
            <a:r>
              <a:rPr lang="ja-JP" altLang="en-US" dirty="0">
                <a:effectLst/>
              </a:rPr>
              <a:t>占い・星座系アプリは、サブスク＋都度課金の組み合わせで高収益な例が多くあります。</a:t>
            </a:r>
            <a:endParaRPr lang="en-US" altLang="ja-JP" dirty="0">
              <a:effectLst/>
            </a:endParaRPr>
          </a:p>
          <a:p>
            <a:pPr lvl="1"/>
            <a:r>
              <a:rPr lang="en-US" altLang="ja-JP" dirty="0">
                <a:effectLst/>
              </a:rPr>
              <a:t>V</a:t>
            </a:r>
            <a:r>
              <a:rPr lang="ja-JP" altLang="en-US" dirty="0">
                <a:effectLst/>
              </a:rPr>
              <a:t>チューブ収益</a:t>
            </a:r>
          </a:p>
          <a:p>
            <a:pPr marL="0" indent="0">
              <a:buNone/>
            </a:pPr>
            <a:r>
              <a:rPr lang="ja-JP" altLang="en-US" dirty="0">
                <a:effectLst/>
              </a:rPr>
              <a:t>このあたりは、</a:t>
            </a:r>
          </a:p>
          <a:p>
            <a:pPr lvl="1"/>
            <a:r>
              <a:rPr lang="ja-JP" altLang="en-US" dirty="0">
                <a:effectLst/>
              </a:rPr>
              <a:t>目標</a:t>
            </a:r>
            <a:r>
              <a:rPr lang="en-US" altLang="ja-JP" dirty="0">
                <a:effectLst/>
              </a:rPr>
              <a:t>DL</a:t>
            </a:r>
            <a:r>
              <a:rPr lang="ja-JP" altLang="en-US" dirty="0">
                <a:effectLst/>
              </a:rPr>
              <a:t>数</a:t>
            </a:r>
          </a:p>
          <a:p>
            <a:pPr lvl="1"/>
            <a:r>
              <a:rPr lang="ja-JP" altLang="en-US" dirty="0">
                <a:effectLst/>
              </a:rPr>
              <a:t>想定コンバージョン率（サブスク登録率・チケット購入率）を</a:t>
            </a:r>
            <a:br>
              <a:rPr lang="en-US" altLang="ja-JP" dirty="0">
                <a:effectLst/>
              </a:rPr>
            </a:br>
            <a:r>
              <a:rPr lang="ja-JP" altLang="en-US" dirty="0">
                <a:effectLst/>
              </a:rPr>
              <a:t>逆算していきましょう。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4A3A6-CAC6-EB5E-EEE0-2E13797E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4371-A5ED-1976-6718-062DD3F7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一般的なアプリ開発費用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409B13B-B768-7C19-7288-50785A471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29961"/>
              </p:ext>
            </p:extLst>
          </p:nvPr>
        </p:nvGraphicFramePr>
        <p:xfrm>
          <a:off x="460492" y="1728000"/>
          <a:ext cx="8280096" cy="4035172"/>
        </p:xfrm>
        <a:graphic>
          <a:graphicData uri="http://schemas.openxmlformats.org/drawingml/2006/table">
            <a:tbl>
              <a:tblPr/>
              <a:tblGrid>
                <a:gridCol w="2760032">
                  <a:extLst>
                    <a:ext uri="{9D8B030D-6E8A-4147-A177-3AD203B41FA5}">
                      <a16:colId xmlns:a16="http://schemas.microsoft.com/office/drawing/2014/main" val="2336363651"/>
                    </a:ext>
                  </a:extLst>
                </a:gridCol>
                <a:gridCol w="2992017">
                  <a:extLst>
                    <a:ext uri="{9D8B030D-6E8A-4147-A177-3AD203B41FA5}">
                      <a16:colId xmlns:a16="http://schemas.microsoft.com/office/drawing/2014/main" val="3378165842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522043506"/>
                    </a:ext>
                  </a:extLst>
                </a:gridCol>
              </a:tblGrid>
              <a:tr h="574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項目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内容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目安金額（円換算・概算）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196150"/>
                  </a:ext>
                </a:extLst>
              </a:tr>
              <a:tr h="574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基本設計・要件定義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 dirty="0">
                          <a:effectLst/>
                        </a:rPr>
                        <a:t>1〜2</a:t>
                      </a:r>
                      <a:r>
                        <a:rPr lang="ja-JP" altLang="en-US" sz="1500" dirty="0">
                          <a:effectLst/>
                        </a:rPr>
                        <a:t>ヶ月分の</a:t>
                      </a:r>
                      <a:r>
                        <a:rPr lang="en-US" altLang="ja-JP" sz="1500" dirty="0">
                          <a:effectLst/>
                        </a:rPr>
                        <a:t>PM</a:t>
                      </a:r>
                      <a:r>
                        <a:rPr lang="ja-JP" altLang="en-US" sz="1500" dirty="0">
                          <a:effectLst/>
                        </a:rPr>
                        <a:t>・設計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 dirty="0">
                          <a:effectLst/>
                        </a:rPr>
                        <a:t>50〜150</a:t>
                      </a:r>
                      <a:r>
                        <a:rPr lang="ja-JP" altLang="en-US" sz="1500" dirty="0">
                          <a:effectLst/>
                        </a:rPr>
                        <a:t>万円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0227"/>
                  </a:ext>
                </a:extLst>
              </a:tr>
              <a:tr h="574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デザイン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 dirty="0">
                          <a:effectLst/>
                        </a:rPr>
                        <a:t>UI/UX</a:t>
                      </a:r>
                      <a:r>
                        <a:rPr lang="ja-JP" altLang="en-US" sz="1500" dirty="0">
                          <a:effectLst/>
                        </a:rPr>
                        <a:t>＋ロゴ＋主要画面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>
                          <a:effectLst/>
                        </a:rPr>
                        <a:t>50〜150</a:t>
                      </a:r>
                      <a:r>
                        <a:rPr lang="ja-JP" altLang="en-US" sz="1500">
                          <a:effectLst/>
                        </a:rPr>
                        <a:t>万円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79502"/>
                  </a:ext>
                </a:extLst>
              </a:tr>
              <a:tr h="574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アプリ開発（</a:t>
                      </a:r>
                      <a:r>
                        <a:rPr lang="en-US" altLang="ja-JP" sz="1500" dirty="0">
                          <a:effectLst/>
                        </a:rPr>
                        <a:t>android</a:t>
                      </a:r>
                      <a:r>
                        <a:rPr lang="ja-JP" altLang="en-US" sz="1500" dirty="0">
                          <a:effectLst/>
                        </a:rPr>
                        <a:t>のみ）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占いフロー・課金・履歴など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>
                          <a:effectLst/>
                        </a:rPr>
                        <a:t>150〜400</a:t>
                      </a:r>
                      <a:r>
                        <a:rPr lang="ja-JP" altLang="en-US" sz="1500">
                          <a:effectLst/>
                        </a:rPr>
                        <a:t>万円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54270"/>
                  </a:ext>
                </a:extLst>
              </a:tr>
              <a:tr h="574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アプリ開発</a:t>
                      </a:r>
                      <a:br>
                        <a:rPr lang="en-US" altLang="ja-JP" sz="1500" dirty="0">
                          <a:effectLst/>
                        </a:rPr>
                      </a:br>
                      <a:r>
                        <a:rPr lang="ja-JP" altLang="en-US" sz="1500" dirty="0">
                          <a:effectLst/>
                        </a:rPr>
                        <a:t>（両プラットフォーム）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 err="1">
                          <a:effectLst/>
                        </a:rPr>
                        <a:t>iOS＋Android</a:t>
                      </a:r>
                      <a:endParaRPr lang="en-US" sz="1500" dirty="0">
                        <a:effectLst/>
                      </a:endParaRP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 dirty="0">
                          <a:effectLst/>
                        </a:rPr>
                        <a:t>250〜600</a:t>
                      </a:r>
                      <a:r>
                        <a:rPr lang="ja-JP" altLang="en-US" sz="1500" dirty="0">
                          <a:effectLst/>
                        </a:rPr>
                        <a:t>万円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251518"/>
                  </a:ext>
                </a:extLst>
              </a:tr>
              <a:tr h="574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サーバー／バックエンド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>
                          <a:effectLst/>
                        </a:rPr>
                        <a:t>API</a:t>
                      </a:r>
                      <a:r>
                        <a:rPr lang="ja-JP" altLang="en-US" sz="1500">
                          <a:effectLst/>
                        </a:rPr>
                        <a:t>・</a:t>
                      </a:r>
                      <a:r>
                        <a:rPr lang="en-US" altLang="ja-JP" sz="1500">
                          <a:effectLst/>
                        </a:rPr>
                        <a:t>DB</a:t>
                      </a:r>
                      <a:r>
                        <a:rPr lang="ja-JP" altLang="en-US" sz="1500">
                          <a:effectLst/>
                        </a:rPr>
                        <a:t>・認証・課金連携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 dirty="0">
                          <a:effectLst/>
                        </a:rPr>
                        <a:t>80〜200</a:t>
                      </a:r>
                      <a:r>
                        <a:rPr lang="ja-JP" altLang="en-US" sz="1500" dirty="0">
                          <a:effectLst/>
                        </a:rPr>
                        <a:t>万円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03194"/>
                  </a:ext>
                </a:extLst>
              </a:tr>
              <a:tr h="574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500" dirty="0">
                          <a:effectLst/>
                        </a:rPr>
                        <a:t>テスト・ストア申請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>
                          <a:effectLst/>
                        </a:rPr>
                        <a:t>QA・</a:t>
                      </a:r>
                      <a:r>
                        <a:rPr lang="ja-JP" altLang="en-US" sz="1500">
                          <a:effectLst/>
                        </a:rPr>
                        <a:t>申請作業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500" dirty="0">
                          <a:effectLst/>
                        </a:rPr>
                        <a:t>30〜80</a:t>
                      </a:r>
                      <a:r>
                        <a:rPr lang="ja-JP" altLang="en-US" sz="1500" dirty="0">
                          <a:effectLst/>
                        </a:rPr>
                        <a:t>万円</a:t>
                      </a:r>
                    </a:p>
                  </a:txBody>
                  <a:tcPr marL="64610" marR="64610" marT="64610" marB="6461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816061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64548A-0533-AA60-0C3A-7DF8349F0244}"/>
              </a:ext>
            </a:extLst>
          </p:cNvPr>
          <p:cNvSpPr txBox="1"/>
          <p:nvPr/>
        </p:nvSpPr>
        <p:spPr>
          <a:xfrm>
            <a:off x="460492" y="5786734"/>
            <a:ext cx="8280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b="0" i="0" dirty="0">
                <a:effectLst/>
                <a:latin typeface="pplxSans"/>
              </a:rPr>
              <a:t>中程度の占いアプリだと、両</a:t>
            </a:r>
            <a:r>
              <a:rPr lang="en-US" altLang="ja-JP" b="0" i="0" dirty="0">
                <a:effectLst/>
                <a:latin typeface="pplxSans"/>
              </a:rPr>
              <a:t>OS</a:t>
            </a:r>
            <a:r>
              <a:rPr lang="ja-JP" altLang="en-US" b="0" i="0" dirty="0">
                <a:effectLst/>
                <a:latin typeface="pplxSans"/>
              </a:rPr>
              <a:t>＋バックエンドで</a:t>
            </a:r>
            <a:br>
              <a:rPr lang="en-US" altLang="ja-JP" b="0" i="0" dirty="0">
                <a:effectLst/>
                <a:latin typeface="pplxSans"/>
              </a:rPr>
            </a:br>
            <a:r>
              <a:rPr lang="ja-JP" altLang="en-US" b="0" i="0" dirty="0">
                <a:effectLst/>
                <a:latin typeface="pplxSans"/>
              </a:rPr>
              <a:t>「合計</a:t>
            </a:r>
            <a:r>
              <a:rPr lang="en-US" altLang="ja-JP" b="0" i="0" dirty="0">
                <a:effectLst/>
                <a:latin typeface="pplxSans"/>
              </a:rPr>
              <a:t>300〜800</a:t>
            </a:r>
            <a:r>
              <a:rPr lang="ja-JP" altLang="en-US" b="0" i="0" dirty="0">
                <a:effectLst/>
                <a:latin typeface="pplxSans"/>
              </a:rPr>
              <a:t>万円程度」がグローバルな相場感です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706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FDE4-E197-A9C4-FC87-EC125E39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D515-8126-BB7E-EB69-31B34E05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運用コスト（運用・保守）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2ADE13-5591-ED54-6A76-470E981321FE}"/>
              </a:ext>
            </a:extLst>
          </p:cNvPr>
          <p:cNvSpPr txBox="1"/>
          <p:nvPr/>
        </p:nvSpPr>
        <p:spPr>
          <a:xfrm>
            <a:off x="685347" y="4084353"/>
            <a:ext cx="7764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参考相場：初期開発費の</a:t>
            </a:r>
            <a:r>
              <a:rPr lang="en-US" altLang="ja-JP" dirty="0"/>
              <a:t>15〜20</a:t>
            </a:r>
            <a:r>
              <a:rPr lang="ja-JP" altLang="en-US" dirty="0"/>
              <a:t>％／年</a:t>
            </a:r>
            <a:br>
              <a:rPr lang="en-US" altLang="ja-JP" dirty="0"/>
            </a:br>
            <a:r>
              <a:rPr lang="ja-JP" altLang="en-US" dirty="0"/>
              <a:t>合計：小規模なら月</a:t>
            </a:r>
            <a:r>
              <a:rPr lang="en-US" altLang="ja-JP" dirty="0"/>
              <a:t>10〜30</a:t>
            </a:r>
            <a:r>
              <a:rPr lang="ja-JP" altLang="en-US" dirty="0"/>
              <a:t>万円程度が目安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637F91B-BE49-3EDF-E0D3-2D964AFCE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180916"/>
              </p:ext>
            </p:extLst>
          </p:nvPr>
        </p:nvGraphicFramePr>
        <p:xfrm>
          <a:off x="685347" y="2154448"/>
          <a:ext cx="7764462" cy="1706880"/>
        </p:xfrm>
        <a:graphic>
          <a:graphicData uri="http://schemas.openxmlformats.org/drawingml/2006/table">
            <a:tbl>
              <a:tblPr/>
              <a:tblGrid>
                <a:gridCol w="2588154">
                  <a:extLst>
                    <a:ext uri="{9D8B030D-6E8A-4147-A177-3AD203B41FA5}">
                      <a16:colId xmlns:a16="http://schemas.microsoft.com/office/drawing/2014/main" val="2149425371"/>
                    </a:ext>
                  </a:extLst>
                </a:gridCol>
                <a:gridCol w="2588154">
                  <a:extLst>
                    <a:ext uri="{9D8B030D-6E8A-4147-A177-3AD203B41FA5}">
                      <a16:colId xmlns:a16="http://schemas.microsoft.com/office/drawing/2014/main" val="2670602845"/>
                    </a:ext>
                  </a:extLst>
                </a:gridCol>
                <a:gridCol w="2588154">
                  <a:extLst>
                    <a:ext uri="{9D8B030D-6E8A-4147-A177-3AD203B41FA5}">
                      <a16:colId xmlns:a16="http://schemas.microsoft.com/office/drawing/2014/main" val="25421830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dirty="0">
                          <a:effectLst/>
                        </a:rPr>
                        <a:t>項目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dirty="0">
                          <a:effectLst/>
                        </a:rPr>
                        <a:t>内容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dirty="0">
                          <a:effectLst/>
                        </a:rPr>
                        <a:t>目安金額（月）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36603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サーバー・クラウド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小</a:t>
                      </a:r>
                      <a:r>
                        <a:rPr lang="en-US" altLang="ja-JP" dirty="0">
                          <a:effectLst/>
                        </a:rPr>
                        <a:t>〜</a:t>
                      </a:r>
                      <a:r>
                        <a:rPr lang="ja-JP" altLang="en-US" dirty="0">
                          <a:effectLst/>
                        </a:rPr>
                        <a:t>中規模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>
                          <a:effectLst/>
                        </a:rPr>
                        <a:t>1〜5</a:t>
                      </a:r>
                      <a:r>
                        <a:rPr lang="ja-JP" altLang="en-US">
                          <a:effectLst/>
                        </a:rPr>
                        <a:t>万円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33578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保守・軽微改修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バグ対応・</a:t>
                      </a:r>
                      <a:r>
                        <a:rPr lang="en-US" altLang="ja-JP" dirty="0">
                          <a:effectLst/>
                        </a:rPr>
                        <a:t>OS</a:t>
                      </a:r>
                      <a:r>
                        <a:rPr lang="ja-JP" altLang="en-US" dirty="0">
                          <a:effectLst/>
                        </a:rPr>
                        <a:t>追従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dirty="0">
                          <a:effectLst/>
                        </a:rPr>
                        <a:t>5〜20</a:t>
                      </a:r>
                      <a:r>
                        <a:rPr lang="ja-JP" altLang="en-US" dirty="0">
                          <a:effectLst/>
                        </a:rPr>
                        <a:t>万円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1435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ストア手数料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売上の</a:t>
                      </a:r>
                      <a:r>
                        <a:rPr lang="en-US" altLang="ja-JP">
                          <a:effectLst/>
                        </a:rPr>
                        <a:t>15〜30</a:t>
                      </a:r>
                      <a:r>
                        <a:rPr lang="ja-JP" altLang="en-US">
                          <a:effectLst/>
                        </a:rPr>
                        <a:t>％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売上連動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111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532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C1364-635F-1039-3ACD-BE3BAA59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71F1-6BA3-5775-3108-987C9613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</a:t>
            </a:r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チューブ </a:t>
            </a:r>
            <a:br>
              <a:rPr lang="en-US" altLang="ja-JP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初期＆運用コスト見積書（目安）</a:t>
            </a:r>
            <a:endParaRPr dirty="0">
              <a:solidFill>
                <a:schemeClr val="accent3">
                  <a:lumMod val="40000"/>
                  <a:lumOff val="6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4E1138-E27B-9034-FF0E-252BEBBEF53F}"/>
              </a:ext>
            </a:extLst>
          </p:cNvPr>
          <p:cNvSpPr txBox="1"/>
          <p:nvPr/>
        </p:nvSpPr>
        <p:spPr>
          <a:xfrm>
            <a:off x="686206" y="5126972"/>
            <a:ext cx="7764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/>
              <a:t>Live2D</a:t>
            </a:r>
            <a:r>
              <a:rPr lang="ja-JP" altLang="en-US" dirty="0"/>
              <a:t>モデル単体の相場</a:t>
            </a:r>
            <a:endParaRPr lang="en-US" altLang="ja-JP" dirty="0"/>
          </a:p>
          <a:p>
            <a:pPr algn="ctr"/>
            <a:r>
              <a:rPr lang="ja-JP" altLang="en-US" dirty="0"/>
              <a:t>シンプル：</a:t>
            </a:r>
            <a:r>
              <a:rPr lang="en-US" altLang="ja-JP" dirty="0"/>
              <a:t>2〜8</a:t>
            </a:r>
            <a:r>
              <a:rPr lang="ja-JP" altLang="en-US" dirty="0"/>
              <a:t>万円。高品質：</a:t>
            </a:r>
            <a:r>
              <a:rPr lang="en-US" altLang="ja-JP" dirty="0"/>
              <a:t>10〜50</a:t>
            </a:r>
            <a:r>
              <a:rPr lang="ja-JP" altLang="en-US" dirty="0"/>
              <a:t>万円クラスもあり得る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7B75CF8-0F04-D305-7A86-A0BDBD945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118"/>
              </p:ext>
            </p:extLst>
          </p:nvPr>
        </p:nvGraphicFramePr>
        <p:xfrm>
          <a:off x="685347" y="2053541"/>
          <a:ext cx="7764462" cy="2868538"/>
        </p:xfrm>
        <a:graphic>
          <a:graphicData uri="http://schemas.openxmlformats.org/drawingml/2006/table">
            <a:tbl>
              <a:tblPr/>
              <a:tblGrid>
                <a:gridCol w="2326794">
                  <a:extLst>
                    <a:ext uri="{9D8B030D-6E8A-4147-A177-3AD203B41FA5}">
                      <a16:colId xmlns:a16="http://schemas.microsoft.com/office/drawing/2014/main" val="253034124"/>
                    </a:ext>
                  </a:extLst>
                </a:gridCol>
                <a:gridCol w="3316941">
                  <a:extLst>
                    <a:ext uri="{9D8B030D-6E8A-4147-A177-3AD203B41FA5}">
                      <a16:colId xmlns:a16="http://schemas.microsoft.com/office/drawing/2014/main" val="3526607248"/>
                    </a:ext>
                  </a:extLst>
                </a:gridCol>
                <a:gridCol w="2120727">
                  <a:extLst>
                    <a:ext uri="{9D8B030D-6E8A-4147-A177-3AD203B41FA5}">
                      <a16:colId xmlns:a16="http://schemas.microsoft.com/office/drawing/2014/main" val="4086968063"/>
                    </a:ext>
                  </a:extLst>
                </a:gridCol>
              </a:tblGrid>
              <a:tr h="491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>
                          <a:effectLst/>
                        </a:rPr>
                        <a:t>レベル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>
                          <a:effectLst/>
                        </a:rPr>
                        <a:t>内容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dirty="0">
                          <a:effectLst/>
                        </a:rPr>
                        <a:t>目安金額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31139"/>
                  </a:ext>
                </a:extLst>
              </a:tr>
              <a:tr h="4910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ミニマム</a:t>
                      </a:r>
                      <a:br>
                        <a:rPr lang="en-US" altLang="ja-JP" dirty="0">
                          <a:effectLst/>
                        </a:rPr>
                      </a:br>
                      <a:r>
                        <a:rPr lang="ja-JP" altLang="en-US" dirty="0">
                          <a:effectLst/>
                        </a:rPr>
                        <a:t>（趣味スタート）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既存</a:t>
                      </a:r>
                      <a:r>
                        <a:rPr lang="en-US">
                          <a:effectLst/>
                        </a:rPr>
                        <a:t>PC＋</a:t>
                      </a:r>
                      <a:r>
                        <a:rPr lang="ja-JP" altLang="en-US">
                          <a:effectLst/>
                        </a:rPr>
                        <a:t>安価マイク＋</a:t>
                      </a:r>
                      <a:r>
                        <a:rPr lang="en-US">
                          <a:effectLst/>
                        </a:rPr>
                        <a:t>Web</a:t>
                      </a:r>
                      <a:r>
                        <a:rPr lang="ja-JP" altLang="en-US">
                          <a:effectLst/>
                        </a:rPr>
                        <a:t>カメラ＋安価</a:t>
                      </a:r>
                      <a:r>
                        <a:rPr lang="en-US">
                          <a:effectLst/>
                        </a:rPr>
                        <a:t>Live2D or PNG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dirty="0">
                          <a:effectLst/>
                        </a:rPr>
                        <a:t>5〜10</a:t>
                      </a:r>
                      <a:r>
                        <a:rPr lang="ja-JP" altLang="en-US" dirty="0">
                          <a:effectLst/>
                        </a:rPr>
                        <a:t>万円前後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764671"/>
                  </a:ext>
                </a:extLst>
              </a:tr>
              <a:tr h="4910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中級</a:t>
                      </a:r>
                      <a:br>
                        <a:rPr lang="en-US" altLang="ja-JP" dirty="0">
                          <a:effectLst/>
                        </a:rPr>
                      </a:br>
                      <a:r>
                        <a:rPr lang="ja-JP" altLang="en-US" dirty="0">
                          <a:effectLst/>
                        </a:rPr>
                        <a:t>（個人プロレベル）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新</a:t>
                      </a:r>
                      <a:r>
                        <a:rPr lang="en-US" altLang="ja-JP">
                          <a:effectLst/>
                        </a:rPr>
                        <a:t>PC</a:t>
                      </a:r>
                      <a:r>
                        <a:rPr lang="ja-JP" altLang="en-US">
                          <a:effectLst/>
                        </a:rPr>
                        <a:t>＋コンデンサマイク＋</a:t>
                      </a:r>
                      <a:r>
                        <a:rPr lang="en-US" altLang="ja-JP">
                          <a:effectLst/>
                        </a:rPr>
                        <a:t>FHD</a:t>
                      </a:r>
                      <a:r>
                        <a:rPr lang="ja-JP" altLang="en-US">
                          <a:effectLst/>
                        </a:rPr>
                        <a:t>カメラ＋オリジナル</a:t>
                      </a:r>
                      <a:r>
                        <a:rPr lang="en-US" altLang="ja-JP">
                          <a:effectLst/>
                        </a:rPr>
                        <a:t>Live2D</a:t>
                      </a:r>
                      <a:r>
                        <a:rPr lang="ja-JP" altLang="en-US">
                          <a:effectLst/>
                        </a:rPr>
                        <a:t>モデル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dirty="0">
                          <a:effectLst/>
                        </a:rPr>
                        <a:t>20〜40</a:t>
                      </a:r>
                      <a:r>
                        <a:rPr lang="ja-JP" altLang="en-US" dirty="0">
                          <a:effectLst/>
                        </a:rPr>
                        <a:t>万円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160956"/>
                  </a:ext>
                </a:extLst>
              </a:tr>
              <a:tr h="4910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高品質</a:t>
                      </a:r>
                      <a:br>
                        <a:rPr lang="en-US" altLang="ja-JP" dirty="0">
                          <a:effectLst/>
                        </a:rPr>
                      </a:br>
                      <a:r>
                        <a:rPr lang="ja-JP" altLang="en-US" dirty="0">
                          <a:effectLst/>
                        </a:rPr>
                        <a:t>（企業系に近い）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高性能</a:t>
                      </a:r>
                      <a:r>
                        <a:rPr lang="en-US" altLang="ja-JP" dirty="0">
                          <a:effectLst/>
                        </a:rPr>
                        <a:t>PC</a:t>
                      </a:r>
                      <a:r>
                        <a:rPr lang="ja-JP" altLang="en-US" dirty="0">
                          <a:effectLst/>
                        </a:rPr>
                        <a:t>＋音響＋照明＋高品質</a:t>
                      </a:r>
                      <a:r>
                        <a:rPr lang="en-US" altLang="ja-JP" dirty="0">
                          <a:effectLst/>
                        </a:rPr>
                        <a:t>Live2D</a:t>
                      </a:r>
                      <a:r>
                        <a:rPr lang="ja-JP" altLang="en-US" dirty="0">
                          <a:effectLst/>
                        </a:rPr>
                        <a:t>（高度リギング）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dirty="0">
                          <a:effectLst/>
                        </a:rPr>
                        <a:t>40〜80</a:t>
                      </a:r>
                      <a:r>
                        <a:rPr lang="ja-JP" altLang="en-US" dirty="0">
                          <a:effectLst/>
                        </a:rPr>
                        <a:t>万円以上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563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991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5F8F-3EEB-F6BB-6E8F-4D6133C1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F125-123C-6093-01EE-E3338615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V</a:t>
            </a:r>
            <a:r>
              <a:rPr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チューブ運用コスト</a:t>
            </a:r>
            <a:br>
              <a:rPr lang="en-US" altLang="ja-JP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（運用・保守）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39A032-C259-0ADB-C6F6-2DAA172640E9}"/>
              </a:ext>
            </a:extLst>
          </p:cNvPr>
          <p:cNvSpPr txBox="1"/>
          <p:nvPr/>
        </p:nvSpPr>
        <p:spPr>
          <a:xfrm>
            <a:off x="686206" y="4732949"/>
            <a:ext cx="7764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基本は、時間（ロン＆遥</a:t>
            </a:r>
            <a:r>
              <a:rPr lang="en-US" altLang="ja-JP" dirty="0"/>
              <a:t>&amp;</a:t>
            </a:r>
            <a:r>
              <a:rPr lang="ja-JP" altLang="en-US" dirty="0"/>
              <a:t>てつの人件費）が最大コスト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DCC1DD2-1C3E-A719-6B6F-4C0FB570D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36276"/>
              </p:ext>
            </p:extLst>
          </p:nvPr>
        </p:nvGraphicFramePr>
        <p:xfrm>
          <a:off x="685800" y="2185201"/>
          <a:ext cx="7764462" cy="2255520"/>
        </p:xfrm>
        <a:graphic>
          <a:graphicData uri="http://schemas.openxmlformats.org/drawingml/2006/table">
            <a:tbl>
              <a:tblPr/>
              <a:tblGrid>
                <a:gridCol w="2102224">
                  <a:extLst>
                    <a:ext uri="{9D8B030D-6E8A-4147-A177-3AD203B41FA5}">
                      <a16:colId xmlns:a16="http://schemas.microsoft.com/office/drawing/2014/main" val="400980962"/>
                    </a:ext>
                  </a:extLst>
                </a:gridCol>
                <a:gridCol w="3074084">
                  <a:extLst>
                    <a:ext uri="{9D8B030D-6E8A-4147-A177-3AD203B41FA5}">
                      <a16:colId xmlns:a16="http://schemas.microsoft.com/office/drawing/2014/main" val="2895270832"/>
                    </a:ext>
                  </a:extLst>
                </a:gridCol>
                <a:gridCol w="2588154">
                  <a:extLst>
                    <a:ext uri="{9D8B030D-6E8A-4147-A177-3AD203B41FA5}">
                      <a16:colId xmlns:a16="http://schemas.microsoft.com/office/drawing/2014/main" val="320417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>
                          <a:effectLst/>
                        </a:rPr>
                        <a:t>項目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>
                          <a:effectLst/>
                        </a:rPr>
                        <a:t>内容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dirty="0">
                          <a:effectLst/>
                        </a:rPr>
                        <a:t>目安金額（月）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2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配信ツール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dirty="0">
                          <a:effectLst/>
                        </a:rPr>
                        <a:t>基本無料（</a:t>
                      </a:r>
                      <a:r>
                        <a:rPr lang="en-US" dirty="0">
                          <a:effectLst/>
                        </a:rPr>
                        <a:t>OBS, </a:t>
                      </a:r>
                      <a:r>
                        <a:rPr lang="en-US" dirty="0" err="1">
                          <a:effectLst/>
                        </a:rPr>
                        <a:t>VTube</a:t>
                      </a:r>
                      <a:r>
                        <a:rPr lang="en-US" dirty="0">
                          <a:effectLst/>
                        </a:rPr>
                        <a:t> Studio</a:t>
                      </a:r>
                      <a:r>
                        <a:rPr lang="ja-JP" altLang="en-US" dirty="0">
                          <a:effectLst/>
                        </a:rPr>
                        <a:t>など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ja-JP" alt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27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通信費・サブスク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回線・デザインツール等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>
                          <a:effectLst/>
                        </a:rPr>
                        <a:t>0.5〜2</a:t>
                      </a:r>
                      <a:r>
                        <a:rPr lang="ja-JP" altLang="en-US">
                          <a:effectLst/>
                        </a:rPr>
                        <a:t>万円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9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外注費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>
                          <a:effectLst/>
                        </a:rPr>
                        <a:t>サムネ・動画編集を外注する場合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dirty="0">
                          <a:effectLst/>
                        </a:rPr>
                        <a:t>1〜10</a:t>
                      </a:r>
                      <a:r>
                        <a:rPr lang="zh-CN" altLang="en-US" dirty="0">
                          <a:effectLst/>
                        </a:rPr>
                        <a:t>万円（回数次第）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73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5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4E3B-9E56-89DF-DB11-AC1E7EA9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E3F4-5297-723D-921B-F03E89B7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アプリ市場 調査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447EAA-83E6-543A-B13B-BA6C411E7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94" y="1629967"/>
            <a:ext cx="8166847" cy="259223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/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5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1. 市場規模と需要（Market Size &amp; Demand）</a:t>
            </a:r>
            <a:endParaRPr kumimoji="0" lang="ja-JP" altLang="ja-JP" sz="600" b="0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スピリチュアル・ウェルネス市場は、パンデミック以降、世界的に急拡大しています。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グローバル市場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米国の「サイキック・サービス（占星術・タロット等）」市場は約22億ドル（約3,300億円）規模。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事例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米国の </a:t>
            </a:r>
            <a:r>
              <a:rPr kumimoji="0" lang="ja-JP" altLang="ja-JP" sz="12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『Sanctuary』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 や </a:t>
            </a:r>
            <a:r>
              <a:rPr kumimoji="0" lang="ja-JP" altLang="ja-JP" sz="12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『Co-Star』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 は、洗練されたUIとパーソナライズされたAI鑑定で</a:t>
            </a:r>
            <a:br>
              <a:rPr kumimoji="0" lang="en-US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数百万ドルの資金調達に成功。Z世代を中心に「自分を知るためのツール」として需要が定着。</a:t>
            </a:r>
            <a:endParaRPr kumimoji="0" lang="en-US" altLang="ja-JP" sz="12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12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国内市場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日本の占い市場は約1兆円規模とも言われ、その中でも「チャット占い」「電話占い」が</a:t>
            </a:r>
            <a:br>
              <a:rPr kumimoji="0" lang="en-US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スマホシフトにより高成長を維持。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2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事例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 </a:t>
            </a:r>
            <a:r>
              <a:rPr kumimoji="0" lang="ja-JP" altLang="ja-JP" sz="12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『LINE占い』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 や </a:t>
            </a:r>
            <a:r>
              <a:rPr kumimoji="0" lang="ja-JP" altLang="ja-JP" sz="12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『ステラ』</a:t>
            </a:r>
            <a:r>
              <a:rPr kumimoji="0" lang="ja-JP" altLang="ja-JP" sz="12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。対面を敬遠する層が、非対面かつ匿名性の高いアプリ鑑定へ流入。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99036FE-F607-82B9-0625-BAEE99C20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466BE10-21E6-156E-1233-3B2B8B1A0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F96E489-B638-405F-727D-5A16C7900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94" y="4587265"/>
            <a:ext cx="8166847" cy="148423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/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5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2. </a:t>
            </a:r>
            <a:r>
              <a:rPr kumimoji="0" lang="ja-JP" altLang="en-US" sz="15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収益性（</a:t>
            </a:r>
            <a:r>
              <a:rPr kumimoji="0" lang="en-US" altLang="ja-JP" sz="15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Profitability</a:t>
            </a:r>
            <a:r>
              <a:rPr kumimoji="0" lang="ja-JP" altLang="en-US" sz="15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本プロジェクトは、単一の課金ポイントではなく、「</a:t>
            </a:r>
            <a:r>
              <a:rPr kumimoji="0" lang="en-US" altLang="ja-JP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LTV</a:t>
            </a: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（顧客生涯価値）の最大化」を狙える構造です。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デジタルコンテンツ</a:t>
            </a:r>
            <a:r>
              <a:rPr kumimoji="0" lang="en-US" altLang="ja-JP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</a:t>
            </a: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アプリ内鑑定（都度課金</a:t>
            </a:r>
            <a:r>
              <a:rPr kumimoji="0" lang="en-US" altLang="ja-JP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/</a:t>
            </a: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サブスク）による高い利益率。</a:t>
            </a:r>
            <a:br>
              <a:rPr kumimoji="0" lang="en-US" altLang="ja-JP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en-US" sz="120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2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物販（高単価）</a:t>
            </a:r>
            <a:r>
              <a:rPr kumimoji="0" lang="en-US" altLang="ja-JP" sz="12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</a:t>
            </a: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「念を込めたカード」や「お守り」など、</a:t>
            </a:r>
            <a:r>
              <a:rPr kumimoji="0" lang="en-US" altLang="ja-JP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D2C</a:t>
            </a: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モデルによる利益確保。</a:t>
            </a:r>
            <a:br>
              <a:rPr kumimoji="0" lang="en-US" altLang="ja-JP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en-US" sz="120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2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高付加価値サービス</a:t>
            </a:r>
            <a:r>
              <a:rPr kumimoji="0" lang="en-US" altLang="ja-JP" sz="12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</a:t>
            </a:r>
            <a:r>
              <a:rPr kumimoji="0" lang="en-US" altLang="ja-JP" sz="1200" i="0" u="none" strike="noStrike" cap="none" normalizeH="0" baseline="0" dirty="0" err="1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VTuber</a:t>
            </a:r>
            <a:r>
              <a:rPr kumimoji="0" lang="ja-JP" altLang="en-US" sz="120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を通じた認知向上から、高単価な「対面・オンライン鑑定」への送客（クロスセル）</a:t>
            </a:r>
            <a:endParaRPr kumimoji="0" lang="ja-JP" altLang="ja-JP" sz="120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3704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7674-6568-168A-0586-E6ABE1A4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AB79-7174-2553-6A10-1E702C08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私達の分析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60153D3-29D4-63FE-572B-73CE440E2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DD9D85E-C358-327D-5CE9-3F4D2DE5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27F9147-0A7F-0151-A874-BC0CD1A64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946612"/>
              </p:ext>
            </p:extLst>
          </p:nvPr>
        </p:nvGraphicFramePr>
        <p:xfrm>
          <a:off x="502023" y="1728000"/>
          <a:ext cx="8247529" cy="4584963"/>
        </p:xfrm>
        <a:graphic>
          <a:graphicData uri="http://schemas.openxmlformats.org/drawingml/2006/table">
            <a:tbl>
              <a:tblPr/>
              <a:tblGrid>
                <a:gridCol w="941295">
                  <a:extLst>
                    <a:ext uri="{9D8B030D-6E8A-4147-A177-3AD203B41FA5}">
                      <a16:colId xmlns:a16="http://schemas.microsoft.com/office/drawing/2014/main" val="505783250"/>
                    </a:ext>
                  </a:extLst>
                </a:gridCol>
                <a:gridCol w="7306234">
                  <a:extLst>
                    <a:ext uri="{9D8B030D-6E8A-4147-A177-3AD203B41FA5}">
                      <a16:colId xmlns:a16="http://schemas.microsoft.com/office/drawing/2014/main" val="4176733189"/>
                    </a:ext>
                  </a:extLst>
                </a:gridCol>
              </a:tblGrid>
              <a:tr h="156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区分</a:t>
                      </a: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785534"/>
                  </a:ext>
                </a:extLst>
              </a:tr>
              <a:tr h="8597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強み</a:t>
                      </a:r>
                      <a:endParaRPr lang="ja-JP" altLang="en-US" sz="18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・真実性：「本物の霊能者」という強力な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IP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（ロン）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・エコシステム：物販・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VTuber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・本格鑑定が三位一体で連携したビジネスモデル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・独自性：「念が込められた」オラクルカードというデジタルでは希少な体験価値</a:t>
                      </a: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41454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弱み</a:t>
                      </a:r>
                      <a:endParaRPr lang="ja-JP" altLang="en-US" sz="18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・業界未経験参入によるノウハウ不足</a:t>
                      </a:r>
                      <a:endParaRPr lang="en-US" altLang="ja-JP" sz="14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>
                        <a:buNone/>
                      </a:pP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・属人性：霊能者「ロン」個人の人気・健康状態にビジネスが大きく依存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・運用コスト：動画制作、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LIVE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配信、本格鑑定など人力運用コストが高くなりやすい</a:t>
                      </a:r>
                      <a:endParaRPr lang="en-US" altLang="ja-JP" sz="14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045078"/>
                  </a:ext>
                </a:extLst>
              </a:tr>
              <a:tr h="960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機会</a:t>
                      </a:r>
                      <a:endParaRPr lang="ja-JP" altLang="en-US" sz="18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・海外展開：英語圏を中心に「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J-Spiritual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／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Anime style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」への関心が高まっている</a:t>
                      </a:r>
                      <a:b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 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liveplan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・コミュニティ化：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VTuber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活動を通じてコアファン・コミュニティを形成しやすい</a:t>
                      </a:r>
                      <a:b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  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alive-project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・メンタルヘルス需要：癒やし・スピリチュアルケアを求める層が拡大している</a:t>
                      </a:r>
                      <a:b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  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liveplan</a:t>
                      </a:r>
                      <a:endParaRPr lang="ja-JP" altLang="en-US" sz="14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74513"/>
                  </a:ext>
                </a:extLst>
              </a:tr>
              <a:tr h="1060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脅威</a:t>
                      </a:r>
                      <a:endParaRPr lang="ja-JP" altLang="en-US" sz="18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27913" marR="27913" marT="27913" marB="2791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・競合増加：大手占い・スピリチュアル系アプリが莫大な広告費で市場を押さえつつある</a:t>
                      </a:r>
                      <a:b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  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techugo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・規制強化：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Apple/Google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ストアでの占いコンテンツへのガイドライン強化リスク</a:t>
                      </a:r>
                      <a:b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  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5"/>
                        </a:rPr>
                        <a:t>devtechnosys</a:t>
                      </a:r>
                      <a:b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占い：低価格で大量提供</a:t>
                      </a:r>
                      <a: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鑑定サービスの台頭により価格競争が激化する可能性</a:t>
                      </a:r>
                      <a:br>
                        <a:rPr lang="en-US" altLang="ja-JP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400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  </a:t>
                      </a:r>
                      <a:r>
                        <a:rPr lang="en-US" altLang="ja-JP" sz="1400" dirty="0" err="1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5"/>
                        </a:rPr>
                        <a:t>devtechnosys</a:t>
                      </a:r>
                      <a:endParaRPr lang="ja-JP" altLang="en-US" sz="1400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77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37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BB41-BA85-6894-C79C-25958493D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0B72-FDFB-4F80-9B60-EF2847B3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障害と解決策</a:t>
            </a:r>
            <a:endParaRPr lang="ja-JP" altLang="en-US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A62C68E-1C51-9266-6418-C3A637647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01BADB-E057-4D92-9604-8710A82CB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9" y="1728001"/>
            <a:ext cx="7696653" cy="433116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/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信頼性の証明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障害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ネット上の「怪しい」という偏見。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解決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</a:t>
            </a:r>
            <a:r>
              <a:rPr kumimoji="0" lang="ja-JP" altLang="en-US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①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 VTuber（ロンの部屋）でのライブ配信を通じた、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	   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透明性の高いコミュニケーション。</a:t>
            </a:r>
            <a:endParaRPr kumimoji="0" lang="en-US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　　　②</a:t>
            </a:r>
            <a:r>
              <a:rPr kumimoji="0" lang="ja-JP" altLang="en-US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漫画投稿サイトに霊能実話を投稿する。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海外展開の壁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障害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言語と文化（宗教観）の違い。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1600" b="1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解決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: 英語圏では「Fortune Telling」よりも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        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「Self-Care/Empowerment」という文脈でブランディング。</a:t>
            </a:r>
            <a:b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kumimoji="0" lang="en-US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         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念やエネルギーの概念は「Positive Energy」として訴求。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600" b="0" i="0" u="none" strike="noStrike" cap="none" normalizeH="0" baseline="0" dirty="0">
              <a:ln>
                <a:noFill/>
              </a:ln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D225406-681D-590A-9C98-116F04BC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9B0B3A6-4361-A9D0-A24A-273F4553C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85B7AA-94A6-AE5E-61E4-9599D43588D7}"/>
              </a:ext>
            </a:extLst>
          </p:cNvPr>
          <p:cNvSpPr txBox="1"/>
          <p:nvPr/>
        </p:nvSpPr>
        <p:spPr>
          <a:xfrm>
            <a:off x="761998" y="6151495"/>
            <a:ext cx="7688669" cy="430887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effectLst/>
                <a:latin typeface="Arial" panose="020B0604020202020204" pitchFamily="34" charset="0"/>
              </a:rPr>
              <a:t>多くの競合アプリが「</a:t>
            </a:r>
            <a:r>
              <a:rPr lang="en-US" altLang="ja-JP" sz="1100" b="0" i="0" dirty="0">
                <a:effectLst/>
                <a:latin typeface="Arial" panose="020B0604020202020204" pitchFamily="34" charset="0"/>
              </a:rPr>
              <a:t>AI</a:t>
            </a:r>
            <a:r>
              <a:rPr lang="ja-JP" altLang="en-US" sz="1100" b="0" i="0" dirty="0">
                <a:effectLst/>
                <a:latin typeface="Arial" panose="020B0604020202020204" pitchFamily="34" charset="0"/>
              </a:rPr>
              <a:t>による自動生成」や「フリーの占い師の寄せ集め」であるのに対し、本プロジェクトは</a:t>
            </a:r>
            <a:r>
              <a:rPr lang="ja-JP" altLang="en-US" sz="1100" b="1" i="0" dirty="0">
                <a:effectLst/>
                <a:latin typeface="Arial" panose="020B0604020202020204" pitchFamily="34" charset="0"/>
              </a:rPr>
              <a:t>「一貫した世界観（ロン）</a:t>
            </a:r>
            <a:r>
              <a:rPr lang="en-US" altLang="ja-JP" sz="1100" b="1" i="0" dirty="0">
                <a:effectLst/>
                <a:latin typeface="Arial" panose="020B0604020202020204" pitchFamily="34" charset="0"/>
              </a:rPr>
              <a:t>× </a:t>
            </a:r>
            <a:r>
              <a:rPr lang="ja-JP" altLang="en-US" sz="1100" b="1" i="0" dirty="0">
                <a:effectLst/>
                <a:latin typeface="Arial" panose="020B0604020202020204" pitchFamily="34" charset="0"/>
              </a:rPr>
              <a:t>本物志向（念）</a:t>
            </a:r>
            <a:r>
              <a:rPr lang="en-US" altLang="ja-JP" sz="1100" b="1" i="0" dirty="0">
                <a:effectLst/>
                <a:latin typeface="Arial" panose="020B0604020202020204" pitchFamily="34" charset="0"/>
              </a:rPr>
              <a:t>× </a:t>
            </a:r>
            <a:r>
              <a:rPr lang="ja-JP" altLang="en-US" sz="1100" b="1" i="0" dirty="0">
                <a:effectLst/>
                <a:latin typeface="Arial" panose="020B0604020202020204" pitchFamily="34" charset="0"/>
              </a:rPr>
              <a:t>物理的な絆（ショップ）」</a:t>
            </a:r>
            <a:r>
              <a:rPr lang="ja-JP" altLang="en-US" sz="1100" b="0" i="0" dirty="0">
                <a:effectLst/>
                <a:latin typeface="Arial" panose="020B0604020202020204" pitchFamily="34" charset="0"/>
              </a:rPr>
              <a:t>という、模倣困難な独自の体験価値を提供している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843148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ユーザー定義 1">
      <a:dk1>
        <a:sysClr val="windowText" lastClr="000000"/>
      </a:dk1>
      <a:lt1>
        <a:sysClr val="window" lastClr="FFFFFF"/>
      </a:lt1>
      <a:dk2>
        <a:srgbClr val="438AD7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光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TM04033921[[fn=ダマスク]]</Template>
  <TotalTime>240</TotalTime>
  <Words>4535</Words>
  <Application>Microsoft Office PowerPoint</Application>
  <PresentationFormat>画面に合わせる (4:3)</PresentationFormat>
  <Paragraphs>483</Paragraphs>
  <Slides>22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2" baseType="lpstr">
      <vt:lpstr>HG創英角ｺﾞｼｯｸUB</vt:lpstr>
      <vt:lpstr>pplxSans</vt:lpstr>
      <vt:lpstr>メイリオ</vt:lpstr>
      <vt:lpstr>游ゴシック</vt:lpstr>
      <vt:lpstr>游明朝 Demibold</vt:lpstr>
      <vt:lpstr>Arial</vt:lpstr>
      <vt:lpstr>Arial Black</vt:lpstr>
      <vt:lpstr>Consolas</vt:lpstr>
      <vt:lpstr>Verdana</vt:lpstr>
      <vt:lpstr>Damask</vt:lpstr>
      <vt:lpstr>霊能+オリジナルオラクルカード オラクルリーディングアプリ 企画書 ＆ やっちゃえ！Vチューバー！</vt:lpstr>
      <vt:lpstr>プロジェクト概要</vt:lpstr>
      <vt:lpstr>世界観</vt:lpstr>
      <vt:lpstr>デモ動画</vt:lpstr>
      <vt:lpstr>占いルール</vt:lpstr>
      <vt:lpstr>メニュー</vt:lpstr>
      <vt:lpstr>日本神話デッキ(龍神・ブライスドールデッキ）</vt:lpstr>
      <vt:lpstr>カード仕様</vt:lpstr>
      <vt:lpstr>カード図柄イメージ</vt:lpstr>
      <vt:lpstr>カードデータベース（一部）</vt:lpstr>
      <vt:lpstr>収益モデル相関図</vt:lpstr>
      <vt:lpstr>アプリ料金モデル</vt:lpstr>
      <vt:lpstr>詳細料金モデル</vt:lpstr>
      <vt:lpstr>ロン（Vtuber）と遥の役割分担</vt:lpstr>
      <vt:lpstr>売上目標</vt:lpstr>
      <vt:lpstr>一般的なアプリ開発費用</vt:lpstr>
      <vt:lpstr>運用コスト（運用・保守）</vt:lpstr>
      <vt:lpstr>Vチューブ  初期＆運用コスト見積書（目安）</vt:lpstr>
      <vt:lpstr>Vチューブ運用コスト （運用・保守）</vt:lpstr>
      <vt:lpstr>アプリ市場 調査</vt:lpstr>
      <vt:lpstr>私達の分析</vt:lpstr>
      <vt:lpstr>障害と解決策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原野鉄也</dc:creator>
  <cp:keywords/>
  <dc:description>generated using python-pptx</dc:description>
  <cp:lastModifiedBy>鉄也 原野</cp:lastModifiedBy>
  <cp:revision>5</cp:revision>
  <dcterms:created xsi:type="dcterms:W3CDTF">2013-01-27T09:14:16Z</dcterms:created>
  <dcterms:modified xsi:type="dcterms:W3CDTF">2026-05-13T13:59:50Z</dcterms:modified>
  <cp:category/>
</cp:coreProperties>
</file>